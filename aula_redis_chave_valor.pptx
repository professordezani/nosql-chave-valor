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3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005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88952" cy="6858000"/>
          </a:xfrm>
          <a:prstGeom prst="rect">
            <a:avLst/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Shape 1"/>
          <p:cNvSpPr/>
          <p:nvPr/>
        </p:nvSpPr>
        <p:spPr>
          <a:xfrm>
            <a:off x="8778240" y="54864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DC382C"/>
          </a:solidFill>
          <a:ln w="12700">
            <a:solidFill>
              <a:srgbClr val="3A3F49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" name="Shape 2"/>
          <p:cNvSpPr/>
          <p:nvPr/>
        </p:nvSpPr>
        <p:spPr>
          <a:xfrm>
            <a:off x="10332720" y="54864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2B2F38"/>
          </a:solidFill>
          <a:ln w="12700">
            <a:solidFill>
              <a:srgbClr val="3A3F49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8778240" y="210312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2B2F38"/>
          </a:solidFill>
          <a:ln w="12700">
            <a:solidFill>
              <a:srgbClr val="3A3F49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10332720" y="210312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DC382C"/>
          </a:solidFill>
          <a:ln w="12700">
            <a:solidFill>
              <a:srgbClr val="3A3F49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8778240" y="365760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2B2F38"/>
          </a:solidFill>
          <a:ln w="12700">
            <a:solidFill>
              <a:srgbClr val="3A3F49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8" name="Shape 6"/>
          <p:cNvSpPr/>
          <p:nvPr/>
        </p:nvSpPr>
        <p:spPr>
          <a:xfrm>
            <a:off x="10332720" y="365760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2B2F38"/>
          </a:solidFill>
          <a:ln w="12700">
            <a:solidFill>
              <a:srgbClr val="3A3F49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624840" y="250317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NÃO RELACIONAL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52603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Bancos de Dados Chave-Valor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1475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5675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A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Dr. Henrique Dezani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Aula — 4 horas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658368" y="157276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658368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4173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revisados + Teorema CAP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417320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de NoSQL, o que é chave-valor, CAP na prática (Redis/Mongo/Cassandra)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58775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Shape 12"/>
          <p:cNvSpPr/>
          <p:nvPr/>
        </p:nvSpPr>
        <p:spPr>
          <a:xfrm>
            <a:off x="658368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Text 13"/>
          <p:cNvSpPr txBox="1"/>
          <p:nvPr/>
        </p:nvSpPr>
        <p:spPr>
          <a:xfrm>
            <a:off x="658368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2587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na prática: estruturas e CRUD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58775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Instalação, redis-cli, comandos CRUD para cada estrutura de dados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826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Shape 18"/>
          <p:cNvSpPr/>
          <p:nvPr/>
        </p:nvSpPr>
        <p:spPr>
          <a:xfrm>
            <a:off x="658368" y="34381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658368" y="3438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788920" y="328269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com Python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3282696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(VSCode/Colab), biblioteca redis-py, exemplos executáveis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45312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9" name="Shape 27"/>
          <p:cNvSpPr/>
          <p:nvPr/>
        </p:nvSpPr>
        <p:spPr>
          <a:xfrm>
            <a:off x="658368" y="46085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0" name="Text 28"/>
          <p:cNvSpPr txBox="1"/>
          <p:nvPr/>
        </p:nvSpPr>
        <p:spPr>
          <a:xfrm>
            <a:off x="658368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788920" y="445312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reais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63640" y="4453128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sessões, filas/Pub-Sub, rate limiting, leaderboard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1480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5" name="Shape 33"/>
          <p:cNvSpPr/>
          <p:nvPr/>
        </p:nvSpPr>
        <p:spPr>
          <a:xfrm>
            <a:off x="658368" y="53035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6" name="Text 34"/>
          <p:cNvSpPr txBox="1"/>
          <p:nvPr/>
        </p:nvSpPr>
        <p:spPr>
          <a:xfrm>
            <a:off x="658368" y="5303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2788920" y="514807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 + Mini-projeto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63640" y="514807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com SQL Server, exercícios e lançamento do mini-projeto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DESTA AULA, VOCÊ SERÁ CAPAZ DE: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920240"/>
          </a:xfrm>
          <a:prstGeom prst="roundRect">
            <a:avLst>
              <a:gd name="adj" fmla="val 476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70632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dados chave-valor e sua posição dentro do Teorema CAP.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611880" cy="1920240"/>
          </a:xfrm>
          <a:prstGeom prst="roundRect">
            <a:avLst>
              <a:gd name="adj" fmla="val 476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Shape 8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4231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70632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CRUD completos no Redis via CLI e via Python (redis-py).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611880" cy="1920240"/>
          </a:xfrm>
          <a:prstGeom prst="roundRect">
            <a:avLst>
              <a:gd name="adj" fmla="val 476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Shape 13"/>
          <p:cNvSpPr/>
          <p:nvPr/>
        </p:nvSpPr>
        <p:spPr>
          <a:xfrm>
            <a:off x="8275320" y="1828800"/>
            <a:ext cx="457200" cy="45720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82753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4231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70632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em cenários reais: cache, sessão, filas, rate limiting e ranking.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1920240"/>
          </a:xfrm>
          <a:prstGeom prst="roundRect">
            <a:avLst>
              <a:gd name="adj" fmla="val 476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Shape 18"/>
          <p:cNvSpPr/>
          <p:nvPr/>
        </p:nvSpPr>
        <p:spPr>
          <a:xfrm>
            <a:off x="777240" y="3931920"/>
            <a:ext cx="457200" cy="45720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5262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73752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com bancos relacionais (SQL Server)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03320"/>
            <a:ext cx="3611880" cy="1920240"/>
          </a:xfrm>
          <a:prstGeom prst="roundRect">
            <a:avLst>
              <a:gd name="adj" fmla="val 476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5" name="Shape 23"/>
          <p:cNvSpPr/>
          <p:nvPr/>
        </p:nvSpPr>
        <p:spPr>
          <a:xfrm>
            <a:off x="4526280" y="3931920"/>
            <a:ext cx="457200" cy="45720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45262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5262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4873752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mini-projeto funcional utilizando Redis + Python.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46720" y="3703320"/>
            <a:ext cx="3611880" cy="1920240"/>
          </a:xfrm>
          <a:prstGeom prst="roundRect">
            <a:avLst>
              <a:gd name="adj" fmla="val 476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0" name="Shape 28"/>
          <p:cNvSpPr/>
          <p:nvPr/>
        </p:nvSpPr>
        <p:spPr>
          <a:xfrm>
            <a:off x="8275320" y="3931920"/>
            <a:ext cx="457200" cy="45720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82753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5262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4873752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um banco chave-valor é a escolha arquitetural correta.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ext 1"/>
          <p:cNvSpPr txBox="1"/>
          <p:nvPr/>
        </p:nvSpPr>
        <p:spPr>
          <a:xfrm>
            <a:off x="0" y="19202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69748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Chave-Valor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3977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de NoSQL e o modelo de dados mais simples e mais rápido que existe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RÁPIDA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Recapitulando: as 4 famílias de NoSQL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🔑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Chave-Valor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Redis, DynamoDB, Riak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O(1) por chave. Foco nesta aula.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60020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3383280" y="18745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📄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MongoDB, CouchDB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JSON/BSON auto-descritivos.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Text 13"/>
          <p:cNvSpPr txBox="1"/>
          <p:nvPr/>
        </p:nvSpPr>
        <p:spPr>
          <a:xfrm>
            <a:off x="6217920" y="18745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📊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Cassandra, HBase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Otimizado para escrita massiva e séries temporais.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60020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Text 18"/>
          <p:cNvSpPr txBox="1"/>
          <p:nvPr/>
        </p:nvSpPr>
        <p:spPr>
          <a:xfrm>
            <a:off x="9052560" y="18745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🕸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Neo4j, ArangoDB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Relacionamentos como cidadãos de 1ª classe.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 Banco de Dados Chave-Valor?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760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dados mais simples: um mapa/dicionário persistente e distribuído.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é um par único: uma chave (identificador) aponta para um valor (dado bruto ou estruturado).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esquema, não há relacionamentos, não há linguagem de consulta declarativa (como SQL).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não entende o conteúdo do valor — apenas armazena e recupera pela chave.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 direta: um dicionário Python, um objeto JSON simples, ou um HashMap em memória.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75120" y="1828800"/>
            <a:ext cx="4846320" cy="3566160"/>
          </a:xfrm>
          <a:prstGeom prst="roundRect">
            <a:avLst>
              <a:gd name="adj" fmla="val 2564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694944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conceitual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251460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694944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usuario:102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B1F27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235440" y="251460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9281160" y="25146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"Maria Silva"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949440" y="338328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3" name="Text 11"/>
          <p:cNvSpPr txBox="1"/>
          <p:nvPr/>
        </p:nvSpPr>
        <p:spPr>
          <a:xfrm>
            <a:off x="6949440" y="3383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carrinho:88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B1F27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235440" y="33832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9281160" y="33832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{itens: [...], total: 210}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425196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Text 16"/>
          <p:cNvSpPr txBox="1"/>
          <p:nvPr/>
        </p:nvSpPr>
        <p:spPr>
          <a:xfrm>
            <a:off x="6949440" y="4251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sessao:af31c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732520" y="4251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B1F27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235440" y="425196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928116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JWT...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USAR CHAVE-VALOR?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Vantagens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49808" y="1755648"/>
            <a:ext cx="502920" cy="50292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749808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extrema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249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 O(1). Dados normalmente residentes em memória RAM (Redis, Memcached).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Shape 8"/>
          <p:cNvSpPr/>
          <p:nvPr/>
        </p:nvSpPr>
        <p:spPr>
          <a:xfrm>
            <a:off x="4498848" y="1755648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4498848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43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37744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 horizontal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7249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Particionamento (sharding) natural pela chave, distribuindo carga entre nós.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Shape 13"/>
          <p:cNvSpPr/>
          <p:nvPr/>
        </p:nvSpPr>
        <p:spPr>
          <a:xfrm>
            <a:off x="8247888" y="1755648"/>
            <a:ext cx="502920" cy="50292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8247888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143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237744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Simplicidade de modelo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7249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JOINs, sem schema rígido — reduz complexidade de modelagem e migração.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Shape 18"/>
          <p:cNvSpPr/>
          <p:nvPr/>
        </p:nvSpPr>
        <p:spPr>
          <a:xfrm>
            <a:off x="749808" y="3904488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749808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52628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disponibilidade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8737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Replicação simples primary-replica e failover automático (Sentinel/Cluster).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033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5" name="Shape 23"/>
          <p:cNvSpPr/>
          <p:nvPr/>
        </p:nvSpPr>
        <p:spPr>
          <a:xfrm>
            <a:off x="4498848" y="3904488"/>
            <a:ext cx="502920" cy="50292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4498848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1430" dirty="0"/>
          </a:p>
        </p:txBody>
      </p:sp>
      <p:sp>
        <p:nvSpPr>
          <p:cNvPr id="27" name="Text 25"/>
          <p:cNvSpPr txBox="1"/>
          <p:nvPr/>
        </p:nvSpPr>
        <p:spPr>
          <a:xfrm>
            <a:off x="4498848" y="452628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latência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498848" y="48737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cache, sessões e dados efêmeros com TTL (expiração automática).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46720" y="37033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0" name="Shape 28"/>
          <p:cNvSpPr/>
          <p:nvPr/>
        </p:nvSpPr>
        <p:spPr>
          <a:xfrm>
            <a:off x="8247888" y="3904488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8247888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</a:t>
            </a:r>
            <a:endParaRPr lang="en-US" sz="1430" dirty="0"/>
          </a:p>
        </p:txBody>
      </p:sp>
      <p:sp>
        <p:nvSpPr>
          <p:cNvPr id="32" name="Text 30"/>
          <p:cNvSpPr txBox="1"/>
          <p:nvPr/>
        </p:nvSpPr>
        <p:spPr>
          <a:xfrm>
            <a:off x="8247888" y="452628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Estruturas ricas (Redis)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8247888" y="48737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de string: listas, sets, hashes, sorted sets, streams — não é só um dicionário.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ARQUITETURAL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Usar (e quando NÃO usar)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AF7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Quando usar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de aplicação (resultado de consultas caras)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de usuário e tokens de autenticação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em tempo real (views, likes, rate limit)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de mensagens leves e Pub/Sub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e leaderboards (games, gamificação)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efêmeros com expiração (TTL)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FDECE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649224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 Evite usar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860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fortemente relacionais com muitos JOINs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ad-hoc complexas e analíticas (BI)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 de transações ACID multi-registro complexas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volumes que </a:t>
            </a:r>
            <a:r>
              <a:rPr lang="en-US" sz="1300" dirty="0" err="1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300" dirty="0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cabem</a:t>
            </a:r>
            <a:r>
              <a:rPr lang="en-US" sz="1300" dirty="0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300" dirty="0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7A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Bancos Chave-Valor do Mercado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77440" cy="56692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600200"/>
            <a:ext cx="2468880" cy="56692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7" name="Text 5"/>
          <p:cNvSpPr txBox="1"/>
          <p:nvPr/>
        </p:nvSpPr>
        <p:spPr>
          <a:xfrm>
            <a:off x="3017520" y="16002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94960" y="1600200"/>
            <a:ext cx="3383280" cy="56692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5486400" y="1600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uso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78240" y="1600200"/>
            <a:ext cx="2834640" cy="56692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886968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Destaque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67128"/>
            <a:ext cx="2377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3" name="Text 11"/>
          <p:cNvSpPr txBox="1"/>
          <p:nvPr/>
        </p:nvSpPr>
        <p:spPr>
          <a:xfrm>
            <a:off x="640080" y="21671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26080" y="2167128"/>
            <a:ext cx="24688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5" name="Text 13"/>
          <p:cNvSpPr txBox="1"/>
          <p:nvPr/>
        </p:nvSpPr>
        <p:spPr>
          <a:xfrm>
            <a:off x="3017520" y="21671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+ disco (RDB/AOF)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94960" y="2167128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7" name="Text 15"/>
          <p:cNvSpPr txBox="1"/>
          <p:nvPr/>
        </p:nvSpPr>
        <p:spPr>
          <a:xfrm>
            <a:off x="5486400" y="21671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filas, dados estruturados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778240" y="216712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9" name="Text 17"/>
          <p:cNvSpPr txBox="1"/>
          <p:nvPr/>
        </p:nvSpPr>
        <p:spPr>
          <a:xfrm>
            <a:off x="8869680" y="21671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Estruturas ricas + altíssima performance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734056"/>
            <a:ext cx="237744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640080" y="27340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DynamoDB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26080" y="2734056"/>
            <a:ext cx="246888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3" name="Text 21"/>
          <p:cNvSpPr txBox="1"/>
          <p:nvPr/>
        </p:nvSpPr>
        <p:spPr>
          <a:xfrm>
            <a:off x="3017520" y="273405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(SSD gerenciado)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394960" y="2734056"/>
            <a:ext cx="338328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5" name="Text 23"/>
          <p:cNvSpPr txBox="1"/>
          <p:nvPr/>
        </p:nvSpPr>
        <p:spPr>
          <a:xfrm>
            <a:off x="5486400" y="273405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gerenciado na AWS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78240" y="2734056"/>
            <a:ext cx="283464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7" name="Text 25"/>
          <p:cNvSpPr txBox="1"/>
          <p:nvPr/>
        </p:nvSpPr>
        <p:spPr>
          <a:xfrm>
            <a:off x="8869680" y="27340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automática, SLA de disponibilidade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300984"/>
            <a:ext cx="2377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9" name="Text 27"/>
          <p:cNvSpPr txBox="1"/>
          <p:nvPr/>
        </p:nvSpPr>
        <p:spPr>
          <a:xfrm>
            <a:off x="640080" y="330098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Memcached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926080" y="3300984"/>
            <a:ext cx="24688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3017520" y="3300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RAM (volátil)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94960" y="3300984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3" name="Text 31"/>
          <p:cNvSpPr txBox="1"/>
          <p:nvPr/>
        </p:nvSpPr>
        <p:spPr>
          <a:xfrm>
            <a:off x="5486400" y="33009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puro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778240" y="3300984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5" name="Text 33"/>
          <p:cNvSpPr txBox="1"/>
          <p:nvPr/>
        </p:nvSpPr>
        <p:spPr>
          <a:xfrm>
            <a:off x="8869680" y="33009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Extremamente simples e leve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3867912"/>
            <a:ext cx="237744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7" name="Text 35"/>
          <p:cNvSpPr txBox="1"/>
          <p:nvPr/>
        </p:nvSpPr>
        <p:spPr>
          <a:xfrm>
            <a:off x="640080" y="386791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Riak KV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926080" y="3867912"/>
            <a:ext cx="246888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9" name="Text 37"/>
          <p:cNvSpPr txBox="1"/>
          <p:nvPr/>
        </p:nvSpPr>
        <p:spPr>
          <a:xfrm>
            <a:off x="3017520" y="38679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distribuído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394960" y="3867912"/>
            <a:ext cx="338328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1" name="Text 39"/>
          <p:cNvSpPr txBox="1"/>
          <p:nvPr/>
        </p:nvSpPr>
        <p:spPr>
          <a:xfrm>
            <a:off x="5486400" y="386791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disponibilidade geo-distribuída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778240" y="3867912"/>
            <a:ext cx="283464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3" name="Text 41"/>
          <p:cNvSpPr txBox="1"/>
          <p:nvPr/>
        </p:nvSpPr>
        <p:spPr>
          <a:xfrm>
            <a:off x="8869680" y="38679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 a partição (AP) nativa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4434840"/>
            <a:ext cx="2377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5" name="Text 43"/>
          <p:cNvSpPr txBox="1"/>
          <p:nvPr/>
        </p:nvSpPr>
        <p:spPr>
          <a:xfrm>
            <a:off x="640080" y="44348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926080" y="4434840"/>
            <a:ext cx="24688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7" name="Text 45"/>
          <p:cNvSpPr txBox="1"/>
          <p:nvPr/>
        </p:nvSpPr>
        <p:spPr>
          <a:xfrm>
            <a:off x="3017520" y="44348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(Raft)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394960" y="4434840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9" name="Text 47"/>
          <p:cNvSpPr txBox="1"/>
          <p:nvPr/>
        </p:nvSpPr>
        <p:spPr>
          <a:xfrm>
            <a:off x="5486400" y="44348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distribuída, service discovery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778240" y="4434840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1" name="Text 49"/>
          <p:cNvSpPr txBox="1"/>
          <p:nvPr/>
        </p:nvSpPr>
        <p:spPr>
          <a:xfrm>
            <a:off x="8869680" y="4434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consistência (CP), usado no Kubernetes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ext 1"/>
          <p:cNvSpPr txBox="1"/>
          <p:nvPr/>
        </p:nvSpPr>
        <p:spPr>
          <a:xfrm>
            <a:off x="0" y="19202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69748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CAP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3977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trade-off fundamental de todo sistema de dados distribuído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 BREWER, 2000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o Teorema CAP?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por Eric Brewer (2000) e provado formalmente por Gilbert &amp; Lynch (2002).</a:t>
            </a:r>
            <a:endParaRPr lang="en-US" sz="145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Afirma que um sistema de dados distribuído só pode garantir, no máximo, DUAS das três propriedades a seguir, simultaneamente, durante uma falha de rede.</a:t>
            </a:r>
            <a:endParaRPr lang="en-US" sz="145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uma escolha "para sempre": é uma decisão sobre o comportamento do sistema no momento em que a rede falha (partição).</a:t>
            </a:r>
            <a:endParaRPr lang="en-US" sz="145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base teórica para entender por que bancos NoSQL fazem trade-offs diferentes dos relacionais tradicionais.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92240" y="1737360"/>
            <a:ext cx="777240" cy="7772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649224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10" dirty="0"/>
          </a:p>
        </p:txBody>
      </p:sp>
      <p:sp>
        <p:nvSpPr>
          <p:cNvPr id="7" name="Text 5"/>
          <p:cNvSpPr txBox="1"/>
          <p:nvPr/>
        </p:nvSpPr>
        <p:spPr>
          <a:xfrm>
            <a:off x="74523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(Consistência)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52360" y="21031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leitura recebe a escrita mais recente ou um erro.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92240" y="3154680"/>
            <a:ext cx="777240" cy="77724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649224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1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(Disponibilidade)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3520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requisição recebe uma resposta (sem garantir que seja a mais recente).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92240" y="4572000"/>
            <a:ext cx="777240" cy="77724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21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572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Tolerance (Tolerância a Partição)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452360" y="49377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continua operando mesmo com perda de mensagens entre os nós.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TRIÂNGULO DO CAP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Escolhendo 2 de 3: CP vs AP vs 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91840" y="1691640"/>
            <a:ext cx="3657600" cy="3108960"/>
          </a:xfrm>
          <a:prstGeom prst="triangle">
            <a:avLst/>
          </a:prstGeom>
          <a:solidFill>
            <a:srgbClr val="F6F5F4"/>
          </a:solidFill>
          <a:ln w="1905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4754880" y="1371600"/>
            <a:ext cx="731520" cy="7315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475488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80" dirty="0"/>
          </a:p>
        </p:txBody>
      </p:sp>
      <p:sp>
        <p:nvSpPr>
          <p:cNvPr id="7" name="Shape 5"/>
          <p:cNvSpPr/>
          <p:nvPr/>
        </p:nvSpPr>
        <p:spPr>
          <a:xfrm>
            <a:off x="2926080" y="4663440"/>
            <a:ext cx="731520" cy="7315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2926080" y="4663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80" dirty="0"/>
          </a:p>
        </p:txBody>
      </p:sp>
      <p:sp>
        <p:nvSpPr>
          <p:cNvPr id="9" name="Shape 7"/>
          <p:cNvSpPr/>
          <p:nvPr/>
        </p:nvSpPr>
        <p:spPr>
          <a:xfrm>
            <a:off x="6583680" y="4663440"/>
            <a:ext cx="731520" cy="73152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6583680" y="4663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536769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60020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Shape 13"/>
          <p:cNvSpPr/>
          <p:nvPr/>
        </p:nvSpPr>
        <p:spPr>
          <a:xfrm>
            <a:off x="7498080" y="1737360"/>
            <a:ext cx="685800" cy="365760"/>
          </a:xfrm>
          <a:prstGeom prst="roundRect">
            <a:avLst>
              <a:gd name="adj" fmla="val 15000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7498080" y="17373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Consistência + Partição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21305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 dados corretos; pode recusar responder durante falha de rede.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26243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Exemplos: MongoDB, HBase, Redis Cluster, etcd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360920" y="320040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Shape 19"/>
          <p:cNvSpPr/>
          <p:nvPr/>
        </p:nvSpPr>
        <p:spPr>
          <a:xfrm>
            <a:off x="7498080" y="3337560"/>
            <a:ext cx="685800" cy="36576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Text 20"/>
          <p:cNvSpPr txBox="1"/>
          <p:nvPr/>
        </p:nvSpPr>
        <p:spPr>
          <a:xfrm>
            <a:off x="7498080" y="33375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AP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3192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+ Partição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3730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responde; pode devolver dados desatualizados (consistência eventual).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2245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Exemplos: Cassandra, DynamoDB, Riak, CouchDB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60920" y="480060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7" name="Shape 25"/>
          <p:cNvSpPr/>
          <p:nvPr/>
        </p:nvSpPr>
        <p:spPr>
          <a:xfrm>
            <a:off x="7498080" y="4937760"/>
            <a:ext cx="685800" cy="365760"/>
          </a:xfrm>
          <a:prstGeom prst="roundRect">
            <a:avLst>
              <a:gd name="adj" fmla="val 15000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8" name="Text 26"/>
          <p:cNvSpPr txBox="1"/>
          <p:nvPr/>
        </p:nvSpPr>
        <p:spPr>
          <a:xfrm>
            <a:off x="7498080" y="4937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9194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Consistência + Disponibilidade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53309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existe sem partição de rede — na prática, bancos de 1 nó (não distribuídos).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58247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Exemplos: SQL Server / PostgreSQL single-node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VERDADEIRO TRADE-OFF É C VS 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Prática: P Não é Opcional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sistemas distribuídos reais, falhas de rede acontecem — é inevitável.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a Tolerância a Partição (P) deixa de ser uma escolha: ela é uma restrição do mundo real.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de arquitetura, então, se resume a: durante uma partição, o sistema privilegia Consistência (C) ou Disponibilidade (A)?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→ o sistema pode recusar/atrasar respostas para garantir que o dado devolvido esteja correto.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→ o sistema sempre responde, mesmo que o dado devolvido possa estar desatualizado por alguns instantes (consistência eventual).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92240" y="1737360"/>
            <a:ext cx="5120640" cy="4023360"/>
          </a:xfrm>
          <a:prstGeom prst="roundRect">
            <a:avLst>
              <a:gd name="adj" fmla="val 2273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67665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 de bolso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5146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 a rede falhar agora,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 sistema prefere..."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🟥 ...responder errado do que não responder?  →  AP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🟦 ...não responder do que responder errado?  →  CP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DA TOPOLOGIA!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Redis se Encaixa no CAP?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4297680"/>
          </a:xfrm>
          <a:prstGeom prst="roundRect">
            <a:avLst>
              <a:gd name="adj" fmla="val 253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777240" y="181051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Standalone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nó só — não há partição possível.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3154680"/>
            <a:ext cx="1645920" cy="411480"/>
          </a:xfrm>
          <a:prstGeom prst="roundRect">
            <a:avLst>
              <a:gd name="adj" fmla="val 13333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(CA)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0332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Simplicidade máxima, porém é um ponto único de falha (SPOF).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600200"/>
            <a:ext cx="3611880" cy="4297680"/>
          </a:xfrm>
          <a:prstGeom prst="roundRect">
            <a:avLst>
              <a:gd name="adj" fmla="val 253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4526280" y="181051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Sentinel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+ failover automático entre primary/replicas.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26280" y="3154680"/>
            <a:ext cx="1645920" cy="411480"/>
          </a:xfrm>
          <a:prstGeom prst="roundRect">
            <a:avLst>
              <a:gd name="adj" fmla="val 13333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452628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(tende a)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70332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 consistência: promove um novo primary e pode rejeitar escritas durante a eleição.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600200"/>
            <a:ext cx="3611880" cy="4297680"/>
          </a:xfrm>
          <a:prstGeom prst="roundRect">
            <a:avLst>
              <a:gd name="adj" fmla="val 2532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7" name="Text 15"/>
          <p:cNvSpPr txBox="1"/>
          <p:nvPr/>
        </p:nvSpPr>
        <p:spPr>
          <a:xfrm>
            <a:off x="8275320" y="181051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Cluster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Sharding + replicação distribuída em múltiplos nós.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3154680"/>
            <a:ext cx="16459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Text 18"/>
          <p:cNvSpPr txBox="1"/>
          <p:nvPr/>
        </p:nvSpPr>
        <p:spPr>
          <a:xfrm>
            <a:off x="82753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por padrão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70332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shard sem quorum de nós fica indisponível para escrita — evita dados divergentes.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X MONGODB X CASSANDRA X SQL SERVER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CAP entre Bancos Conhecidos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017520" cy="65836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658368" y="1691640"/>
            <a:ext cx="2798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66160" y="1691640"/>
            <a:ext cx="2651760" cy="65836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7" name="Text 5"/>
          <p:cNvSpPr txBox="1"/>
          <p:nvPr/>
        </p:nvSpPr>
        <p:spPr>
          <a:xfrm>
            <a:off x="3675888" y="169164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típica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2926080" cy="65836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6327648" y="169164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Consistência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144000" y="1691640"/>
            <a:ext cx="3108960" cy="65836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9253728" y="1691640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350008"/>
            <a:ext cx="30175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3" name="Text 11"/>
          <p:cNvSpPr txBox="1"/>
          <p:nvPr/>
        </p:nvSpPr>
        <p:spPr>
          <a:xfrm>
            <a:off x="658368" y="2350008"/>
            <a:ext cx="2798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(Cluster/Sentinel)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566160" y="2350008"/>
            <a:ext cx="2651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5" name="Text 13"/>
          <p:cNvSpPr txBox="1"/>
          <p:nvPr/>
        </p:nvSpPr>
        <p:spPr>
          <a:xfrm>
            <a:off x="3675888" y="235000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2350008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7" name="Text 15"/>
          <p:cNvSpPr txBox="1"/>
          <p:nvPr/>
        </p:nvSpPr>
        <p:spPr>
          <a:xfrm>
            <a:off x="6327648" y="2350008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(via primary)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144000" y="2350008"/>
            <a:ext cx="3108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9" name="Text 17"/>
          <p:cNvSpPr txBox="1"/>
          <p:nvPr/>
        </p:nvSpPr>
        <p:spPr>
          <a:xfrm>
            <a:off x="9253728" y="2350008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Reduzida durante failover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08376"/>
            <a:ext cx="301752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658368" y="3008376"/>
            <a:ext cx="2798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(replica set)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66160" y="3008376"/>
            <a:ext cx="265176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3" name="Text 21"/>
          <p:cNvSpPr txBox="1"/>
          <p:nvPr/>
        </p:nvSpPr>
        <p:spPr>
          <a:xfrm>
            <a:off x="3675888" y="3008376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(config. padrão)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0" y="3008376"/>
            <a:ext cx="292608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5" name="Text 23"/>
          <p:cNvSpPr txBox="1"/>
          <p:nvPr/>
        </p:nvSpPr>
        <p:spPr>
          <a:xfrm>
            <a:off x="6327648" y="3008376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no primary; ajustável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144000" y="3008376"/>
            <a:ext cx="310896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7" name="Text 25"/>
          <p:cNvSpPr txBox="1"/>
          <p:nvPr/>
        </p:nvSpPr>
        <p:spPr>
          <a:xfrm>
            <a:off x="9253728" y="3008376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Alta, com eleição de primary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666744"/>
            <a:ext cx="30175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9" name="Text 27"/>
          <p:cNvSpPr txBox="1"/>
          <p:nvPr/>
        </p:nvSpPr>
        <p:spPr>
          <a:xfrm>
            <a:off x="658368" y="3666744"/>
            <a:ext cx="2798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Cassandra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566160" y="3666744"/>
            <a:ext cx="2651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3675888" y="366674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0" y="3666744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3" name="Text 31"/>
          <p:cNvSpPr txBox="1"/>
          <p:nvPr/>
        </p:nvSpPr>
        <p:spPr>
          <a:xfrm>
            <a:off x="6327648" y="3666744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Eventual (ajustável)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144000" y="3666744"/>
            <a:ext cx="3108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5" name="Text 33"/>
          <p:cNvSpPr txBox="1"/>
          <p:nvPr/>
        </p:nvSpPr>
        <p:spPr>
          <a:xfrm>
            <a:off x="9253728" y="3666744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alta, sem ponto único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325112"/>
            <a:ext cx="301752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7" name="Text 35"/>
          <p:cNvSpPr txBox="1"/>
          <p:nvPr/>
        </p:nvSpPr>
        <p:spPr>
          <a:xfrm>
            <a:off x="658368" y="4325112"/>
            <a:ext cx="2798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(single/AG síncrono)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566160" y="4325112"/>
            <a:ext cx="265176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9" name="Text 37"/>
          <p:cNvSpPr txBox="1"/>
          <p:nvPr/>
        </p:nvSpPr>
        <p:spPr>
          <a:xfrm>
            <a:off x="3675888" y="4325112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/ CP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17920" y="4325112"/>
            <a:ext cx="292608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1" name="Text 39"/>
          <p:cNvSpPr txBox="1"/>
          <p:nvPr/>
        </p:nvSpPr>
        <p:spPr>
          <a:xfrm>
            <a:off x="6327648" y="4325112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(ACID)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144000" y="4325112"/>
            <a:ext cx="3108960" cy="65836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3" name="Text 41"/>
          <p:cNvSpPr txBox="1"/>
          <p:nvPr/>
        </p:nvSpPr>
        <p:spPr>
          <a:xfrm>
            <a:off x="9253728" y="4325112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em cluster, mas não tolera partição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Não existe "o melhor" — existe o adequado ao requisito de negócio (ex.: dados financeiros pedem CP; feed social tolera AP).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"POR BAIXO DOS PANOS"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Consistência Eventual na Prática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sistemas AP, uma escrita é confirmada ao cliente antes de ser replicada para todos os nós.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uma janela curta de tempo, réplicas diferentes podem responder valores diferentes para a mesma chave.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"Eventualmente" (milissegundos a segundos, tipicamente) todas as réplicas convergem para o mesmo valor.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usa replicação assíncrona por padrão entre primary → replicas: leituras em replicas podem estar levemente atrasadas.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aceitável quando: feed de rede social, contadores de visualização, cache — não quando: saldo bancário, estoque crítico.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10424160" cy="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859536" y="4608576"/>
            <a:ext cx="109728" cy="109728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Text 5"/>
          <p:cNvSpPr txBox="1"/>
          <p:nvPr/>
        </p:nvSpPr>
        <p:spPr>
          <a:xfrm>
            <a:off x="9144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t0: cliente escreve x=10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nó Primary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51376" y="4608576"/>
            <a:ext cx="109728" cy="109728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338328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t0+50ms: Replica 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ainda tem x=8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443216" y="4608576"/>
            <a:ext cx="109728" cy="109728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667512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t0+120ms: Replica B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x=10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0369296" y="4608576"/>
            <a:ext cx="109728" cy="109728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3" name="Text 11"/>
          <p:cNvSpPr txBox="1"/>
          <p:nvPr/>
        </p:nvSpPr>
        <p:spPr>
          <a:xfrm>
            <a:off x="960120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t0+200ms: todas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convergem: x=10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ext 1"/>
          <p:cNvSpPr txBox="1"/>
          <p:nvPr/>
        </p:nvSpPr>
        <p:spPr>
          <a:xfrm>
            <a:off x="0" y="19202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69748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na Prática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3977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Estruturas de dados, persistência e ambiente de trabalho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DICTIONARY SERVER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o Redis?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in-memory, open source, criado por Salvatore Sanfilippo (2009).</a:t>
            </a:r>
            <a:endParaRPr lang="en-US" sz="1500" dirty="0"/>
          </a:p>
          <a:p>
            <a:pPr marL="228600" indent="-2286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dados residem em RAM por padrão → latência sub-milissegundo.</a:t>
            </a:r>
            <a:endParaRPr lang="en-US" sz="1500" dirty="0"/>
          </a:p>
          <a:p>
            <a:pPr marL="228600" indent="-2286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Frequentemente chamado de "estrutura de dados como serviço": oferece tipos ricos, não apenas string→string.</a:t>
            </a:r>
            <a:endParaRPr lang="en-US" sz="1500" dirty="0"/>
          </a:p>
          <a:p>
            <a:pPr marL="228600" indent="-2286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Single-threaded no núcleo de execução de comandos → operações atômicas sem necessidade de locks manuais.</a:t>
            </a:r>
            <a:endParaRPr lang="en-US" sz="1500" dirty="0"/>
          </a:p>
          <a:p>
            <a:pPr marL="228600" indent="-2286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Extensível via módulos (RedisJSON, RedisSearch, RedisGraph, </a:t>
            </a:r>
            <a:r>
              <a:rPr lang="en-US" sz="1500" dirty="0" err="1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RedisTimeSeries</a:t>
            </a: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500" dirty="0"/>
          </a:p>
          <a:p>
            <a:pPr marL="228600" indent="-2286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 por: Twitter, GitHub, Instagram, Snapchat, StackOverflow, Uber, entre outros.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"SÓ" UM DICIONÁRIO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Estruturas de Dados do Redis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13232" y="174650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713232" y="1746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7627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48716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Texto, número, JSON serializado, binário (até 512MB)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83280" y="16002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Shape 8"/>
          <p:cNvSpPr/>
          <p:nvPr/>
        </p:nvSpPr>
        <p:spPr>
          <a:xfrm>
            <a:off x="3547872" y="174650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3547872" y="1746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217627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248716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ligada — filas (FIFO) e pilhas (LIFO)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Shape 13"/>
          <p:cNvSpPr/>
          <p:nvPr/>
        </p:nvSpPr>
        <p:spPr>
          <a:xfrm>
            <a:off x="6382512" y="174650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6382512" y="1746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217627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48716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com múltiplos campos — como uma "linha" de tabela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52560" y="16002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Shape 18"/>
          <p:cNvSpPr/>
          <p:nvPr/>
        </p:nvSpPr>
        <p:spPr>
          <a:xfrm>
            <a:off x="9217152" y="174650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9217152" y="1746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217152" y="217627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217152" y="248716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 não-ordenada de itens únicos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2461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5" name="Shape 23"/>
          <p:cNvSpPr/>
          <p:nvPr/>
        </p:nvSpPr>
        <p:spPr>
          <a:xfrm>
            <a:off x="713232" y="339242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713232" y="33924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ZSet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382219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Set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13308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ordenado por score — rankings, filas de prioridade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83280" y="32461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0" name="Shape 28"/>
          <p:cNvSpPr/>
          <p:nvPr/>
        </p:nvSpPr>
        <p:spPr>
          <a:xfrm>
            <a:off x="3547872" y="339242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3547872" y="33924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Strm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547872" y="382219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547872" y="413308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eventos append-only — similar a Kafka simplificado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5" name="Shape 33"/>
          <p:cNvSpPr/>
          <p:nvPr/>
        </p:nvSpPr>
        <p:spPr>
          <a:xfrm>
            <a:off x="6382512" y="339242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6" name="Text 34"/>
          <p:cNvSpPr txBox="1"/>
          <p:nvPr/>
        </p:nvSpPr>
        <p:spPr>
          <a:xfrm>
            <a:off x="6382512" y="33924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82512" y="382219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382512" y="413308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lat/long — busca por raio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052560" y="32461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0" name="Shape 38"/>
          <p:cNvSpPr/>
          <p:nvPr/>
        </p:nvSpPr>
        <p:spPr>
          <a:xfrm>
            <a:off x="9217152" y="3392424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1" name="Text 39"/>
          <p:cNvSpPr txBox="1"/>
          <p:nvPr/>
        </p:nvSpPr>
        <p:spPr>
          <a:xfrm>
            <a:off x="9217152" y="33924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217152" y="382219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HyperLogLog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9217152" y="4133088"/>
            <a:ext cx="2368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Contagem aproximada de itens únicos (cardinalidade)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 E AOF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Persistência: Redis Não É Só Memória Volátil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 — Redis Database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binário completo em intervalos configuráveis (ex.: a cada 60s se ≥1000 chaves mudaram).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4800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Arquivo compacto, restauração rápida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Baixo overhead de I/O contínuo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Pode perder dados entre snapshots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AOF — Append Only File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317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cada comando de escrita em um log sequencial, reproduzido na reinicialização.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291840"/>
            <a:ext cx="4800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Menor perda de dados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Arquivo legível e reescrito automaticamente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Arquivo maior, restauração mais lenta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produção, é comum combinar RDB + AOF para equilibrar performance e durabilidade.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FORMAS DE TER UM REDIS DISPONÍVEL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Preparando o Ambiente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4297680"/>
          </a:xfrm>
          <a:prstGeom prst="roundRect">
            <a:avLst>
              <a:gd name="adj" fmla="val 253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🐳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(recomendado p/ VSCode)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841248" y="301752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-d --name redis-aula -p 6379:6379 redis:7-alpine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local, isolado, idêntico ao de produção. Requer Docker instalado.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00200"/>
            <a:ext cx="3611880" cy="4297680"/>
          </a:xfrm>
          <a:prstGeom prst="roundRect">
            <a:avLst>
              <a:gd name="adj" fmla="val 2532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4297680" y="17830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☁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4231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Cloud (free tier)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80560" y="301752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4590288" y="301752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redis.io/try-free  →  crie um banco gratuito (30MB)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remoto com host/porta/senha — funciona direto do Google Colab, sem instalar nada.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600200"/>
            <a:ext cx="3611880" cy="4297680"/>
          </a:xfrm>
          <a:prstGeom prst="roundRect">
            <a:avLst>
              <a:gd name="adj" fmla="val 2532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7" name="Text 15"/>
          <p:cNvSpPr txBox="1"/>
          <p:nvPr/>
        </p:nvSpPr>
        <p:spPr>
          <a:xfrm>
            <a:off x="8046720" y="17830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💻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4231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nativa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01752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Text 18"/>
          <p:cNvSpPr txBox="1"/>
          <p:nvPr/>
        </p:nvSpPr>
        <p:spPr>
          <a:xfrm>
            <a:off x="8339328" y="301752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install redis-server  (Linux) / WSL no Windows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para quem já usa Linux/WSL no dia a dia como ambiente de desenvolvimento.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Sugestão para a turma: use Redis Cloud (free tier) se quiser rodar tudo direto do Google Colab, sem instalar nada localmente.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INTERATIVO DO REDIS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Primeiros Passos no redis-cli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480560"/>
          </a:xfrm>
          <a:prstGeom prst="roundRect">
            <a:avLst>
              <a:gd name="adj" fmla="val 1633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49808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950976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115214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10515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redis-cli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127.0.0.1:6379&gt; PING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PONG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127.0.0.1:6379&gt; SET curso "Banco de Dados Não Relacional"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127.0.0.1:6379&gt; GET curso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"Banco de Dados Não Relacional"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127.0.0.1:6379&gt; DBSIZE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(integer) 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ext 1"/>
          <p:cNvSpPr txBox="1"/>
          <p:nvPr/>
        </p:nvSpPr>
        <p:spPr>
          <a:xfrm>
            <a:off x="0" y="19202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69748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 Redis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3977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Read, Update e Delete em cada estrutura de dados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MAIS BÁSICA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 Strings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600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00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Create/Update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03120" y="2057400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2" name="Text 10"/>
          <p:cNvSpPr txBox="1"/>
          <p:nvPr/>
        </p:nvSpPr>
        <p:spPr>
          <a:xfrm>
            <a:off x="2194560" y="2057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chave valor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23360" y="2057400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4114800" y="205740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produto:1 "Notebook"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89520" y="2057400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7680960" y="205740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ou sobrescreve o valor de uma chave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79192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8" name="Text 16"/>
          <p:cNvSpPr txBox="1"/>
          <p:nvPr/>
        </p:nvSpPr>
        <p:spPr>
          <a:xfrm>
            <a:off x="640080" y="2679192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c/ TTL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03120" y="267919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0" name="Text 18"/>
          <p:cNvSpPr txBox="1"/>
          <p:nvPr/>
        </p:nvSpPr>
        <p:spPr>
          <a:xfrm>
            <a:off x="2194560" y="26791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chave valor EX seg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23360" y="2679192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2" name="Text 20"/>
          <p:cNvSpPr txBox="1"/>
          <p:nvPr/>
        </p:nvSpPr>
        <p:spPr>
          <a:xfrm>
            <a:off x="4114800" y="26791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sessao:1 tok EX 3600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89520" y="2679192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4" name="Text 22"/>
          <p:cNvSpPr txBox="1"/>
          <p:nvPr/>
        </p:nvSpPr>
        <p:spPr>
          <a:xfrm>
            <a:off x="7680960" y="267919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valor com expiração em segundos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300984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640080" y="3300984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103120" y="3300984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8" name="Text 26"/>
          <p:cNvSpPr txBox="1"/>
          <p:nvPr/>
        </p:nvSpPr>
        <p:spPr>
          <a:xfrm>
            <a:off x="2194560" y="330098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chave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023360" y="3300984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0" name="Text 28"/>
          <p:cNvSpPr txBox="1"/>
          <p:nvPr/>
        </p:nvSpPr>
        <p:spPr>
          <a:xfrm>
            <a:off x="4114800" y="330098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produto:1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89520" y="3300984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2" name="Text 30"/>
          <p:cNvSpPr txBox="1"/>
          <p:nvPr/>
        </p:nvSpPr>
        <p:spPr>
          <a:xfrm>
            <a:off x="7680960" y="330098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o valor da chave (ou nil)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3922776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4" name="Text 32"/>
          <p:cNvSpPr txBox="1"/>
          <p:nvPr/>
        </p:nvSpPr>
        <p:spPr>
          <a:xfrm>
            <a:off x="640080" y="392277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múltiplo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03120" y="3922776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6" name="Text 34"/>
          <p:cNvSpPr txBox="1"/>
          <p:nvPr/>
        </p:nvSpPr>
        <p:spPr>
          <a:xfrm>
            <a:off x="2194560" y="392277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MGET chave1 chave2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023360" y="3922776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8" name="Text 36"/>
          <p:cNvSpPr txBox="1"/>
          <p:nvPr/>
        </p:nvSpPr>
        <p:spPr>
          <a:xfrm>
            <a:off x="4114800" y="392277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MGET produto:1 produto:2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589520" y="3922776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0" name="Text 38"/>
          <p:cNvSpPr txBox="1"/>
          <p:nvPr/>
        </p:nvSpPr>
        <p:spPr>
          <a:xfrm>
            <a:off x="7680960" y="39227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várias chaves em uma única chamada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544568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2" name="Text 40"/>
          <p:cNvSpPr txBox="1"/>
          <p:nvPr/>
        </p:nvSpPr>
        <p:spPr>
          <a:xfrm>
            <a:off x="640080" y="45445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numérico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103120" y="4544568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4" name="Text 42"/>
          <p:cNvSpPr txBox="1"/>
          <p:nvPr/>
        </p:nvSpPr>
        <p:spPr>
          <a:xfrm>
            <a:off x="2194560" y="454456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 / INCRBY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023360" y="4544568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6" name="Text 44"/>
          <p:cNvSpPr txBox="1"/>
          <p:nvPr/>
        </p:nvSpPr>
        <p:spPr>
          <a:xfrm>
            <a:off x="4114800" y="454456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INCR visitas:pagina1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589520" y="4544568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8" name="Text 46"/>
          <p:cNvSpPr txBox="1"/>
          <p:nvPr/>
        </p:nvSpPr>
        <p:spPr>
          <a:xfrm>
            <a:off x="7680960" y="454456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 valor inteiro atomicamente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5166360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0" name="Text 48"/>
          <p:cNvSpPr txBox="1"/>
          <p:nvPr/>
        </p:nvSpPr>
        <p:spPr>
          <a:xfrm>
            <a:off x="640080" y="51663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103120" y="5166360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2" name="Text 50"/>
          <p:cNvSpPr txBox="1"/>
          <p:nvPr/>
        </p:nvSpPr>
        <p:spPr>
          <a:xfrm>
            <a:off x="2194560" y="5166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chave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023360" y="5166360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4" name="Text 52"/>
          <p:cNvSpPr txBox="1"/>
          <p:nvPr/>
        </p:nvSpPr>
        <p:spPr>
          <a:xfrm>
            <a:off x="4114800" y="5166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produto:1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589520" y="5166360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6" name="Text 54"/>
          <p:cNvSpPr txBox="1"/>
          <p:nvPr/>
        </p:nvSpPr>
        <p:spPr>
          <a:xfrm>
            <a:off x="7680960" y="516636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chave e libera memória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 "REGISTRO" DE TABELA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 Hashes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600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00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03120" y="2057400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2" name="Text 10"/>
          <p:cNvSpPr txBox="1"/>
          <p:nvPr/>
        </p:nvSpPr>
        <p:spPr>
          <a:xfrm>
            <a:off x="2194560" y="2057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HSET chave campo valor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23360" y="2057400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4114800" y="205740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HSET user:1 nome "Ana" idade 22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89520" y="2057400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7680960" y="205740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Cria/atualiza um ou mais campos do hash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79192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8" name="Text 16"/>
          <p:cNvSpPr txBox="1"/>
          <p:nvPr/>
        </p:nvSpPr>
        <p:spPr>
          <a:xfrm>
            <a:off x="640080" y="2679192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(1 campo)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03120" y="267919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0" name="Text 18"/>
          <p:cNvSpPr txBox="1"/>
          <p:nvPr/>
        </p:nvSpPr>
        <p:spPr>
          <a:xfrm>
            <a:off x="2194560" y="26791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HGET chave campo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23360" y="2679192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2" name="Text 20"/>
          <p:cNvSpPr txBox="1"/>
          <p:nvPr/>
        </p:nvSpPr>
        <p:spPr>
          <a:xfrm>
            <a:off x="4114800" y="26791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HGET user:1 nome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89520" y="2679192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4" name="Text 22"/>
          <p:cNvSpPr txBox="1"/>
          <p:nvPr/>
        </p:nvSpPr>
        <p:spPr>
          <a:xfrm>
            <a:off x="7680960" y="267919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valor de um campo específico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300984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640080" y="3300984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(tudo)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103120" y="3300984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8" name="Text 26"/>
          <p:cNvSpPr txBox="1"/>
          <p:nvPr/>
        </p:nvSpPr>
        <p:spPr>
          <a:xfrm>
            <a:off x="2194560" y="330098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HGETALL chave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023360" y="3300984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0" name="Text 28"/>
          <p:cNvSpPr txBox="1"/>
          <p:nvPr/>
        </p:nvSpPr>
        <p:spPr>
          <a:xfrm>
            <a:off x="4114800" y="330098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HGETALL user:1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89520" y="3300984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2" name="Text 30"/>
          <p:cNvSpPr txBox="1"/>
          <p:nvPr/>
        </p:nvSpPr>
        <p:spPr>
          <a:xfrm>
            <a:off x="7680960" y="330098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todos os campos e valores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3922776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4" name="Text 32"/>
          <p:cNvSpPr txBox="1"/>
          <p:nvPr/>
        </p:nvSpPr>
        <p:spPr>
          <a:xfrm>
            <a:off x="640080" y="392277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03120" y="3922776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6" name="Text 34"/>
          <p:cNvSpPr txBox="1"/>
          <p:nvPr/>
        </p:nvSpPr>
        <p:spPr>
          <a:xfrm>
            <a:off x="2194560" y="392277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HSET / HINCRBY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023360" y="3922776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8" name="Text 36"/>
          <p:cNvSpPr txBox="1"/>
          <p:nvPr/>
        </p:nvSpPr>
        <p:spPr>
          <a:xfrm>
            <a:off x="4114800" y="392277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HINCRBY user:1 idade 1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589520" y="3922776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0" name="Text 38"/>
          <p:cNvSpPr txBox="1"/>
          <p:nvPr/>
        </p:nvSpPr>
        <p:spPr>
          <a:xfrm>
            <a:off x="7680960" y="39227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campo (idade +1, por exemplo)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544568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2" name="Text 40"/>
          <p:cNvSpPr txBox="1"/>
          <p:nvPr/>
        </p:nvSpPr>
        <p:spPr>
          <a:xfrm>
            <a:off x="640080" y="45445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campo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103120" y="4544568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4" name="Text 42"/>
          <p:cNvSpPr txBox="1"/>
          <p:nvPr/>
        </p:nvSpPr>
        <p:spPr>
          <a:xfrm>
            <a:off x="2194560" y="454456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HDEL chave campo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023360" y="4544568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6" name="Text 44"/>
          <p:cNvSpPr txBox="1"/>
          <p:nvPr/>
        </p:nvSpPr>
        <p:spPr>
          <a:xfrm>
            <a:off x="4114800" y="454456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HDEL user:1 idade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589520" y="4544568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8" name="Text 46"/>
          <p:cNvSpPr txBox="1"/>
          <p:nvPr/>
        </p:nvSpPr>
        <p:spPr>
          <a:xfrm>
            <a:off x="7680960" y="454456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apenas um campo do hash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5166360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0" name="Text 48"/>
          <p:cNvSpPr txBox="1"/>
          <p:nvPr/>
        </p:nvSpPr>
        <p:spPr>
          <a:xfrm>
            <a:off x="640080" y="51663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hash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103120" y="5166360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2" name="Text 50"/>
          <p:cNvSpPr txBox="1"/>
          <p:nvPr/>
        </p:nvSpPr>
        <p:spPr>
          <a:xfrm>
            <a:off x="2194560" y="5166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chave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023360" y="5166360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4" name="Text 52"/>
          <p:cNvSpPr txBox="1"/>
          <p:nvPr/>
        </p:nvSpPr>
        <p:spPr>
          <a:xfrm>
            <a:off x="4114800" y="5166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user:1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589520" y="5166360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6" name="Text 54"/>
          <p:cNvSpPr txBox="1"/>
          <p:nvPr/>
        </p:nvSpPr>
        <p:spPr>
          <a:xfrm>
            <a:off x="7680960" y="516636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 hash inteiro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9710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HGETALL é o equivalente a SELECT * FROM usuario WHERE id=1 no mundo relacional.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FILAS, PILHAS E COLEÇÕES ÚNICAS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 Listas e Sets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600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00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(Lista)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03120" y="2057400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2" name="Text 10"/>
          <p:cNvSpPr txBox="1"/>
          <p:nvPr/>
        </p:nvSpPr>
        <p:spPr>
          <a:xfrm>
            <a:off x="2194560" y="2057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LPUSH / RPUSH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23360" y="2057400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4114800" y="205740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RPUSH fila:pedidos "pedido42"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89520" y="2057400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7680960" y="205740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Insere no início (L) ou fim (R) da lista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79192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8" name="Text 16"/>
          <p:cNvSpPr txBox="1"/>
          <p:nvPr/>
        </p:nvSpPr>
        <p:spPr>
          <a:xfrm>
            <a:off x="640080" y="2679192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(Lista)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03120" y="267919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0" name="Text 18"/>
          <p:cNvSpPr txBox="1"/>
          <p:nvPr/>
        </p:nvSpPr>
        <p:spPr>
          <a:xfrm>
            <a:off x="2194560" y="26791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LRANGE chave ini fim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23360" y="2679192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2" name="Text 20"/>
          <p:cNvSpPr txBox="1"/>
          <p:nvPr/>
        </p:nvSpPr>
        <p:spPr>
          <a:xfrm>
            <a:off x="4114800" y="26791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LRANGE fila:pedidos 0 -1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89520" y="2679192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4" name="Text 22"/>
          <p:cNvSpPr txBox="1"/>
          <p:nvPr/>
        </p:nvSpPr>
        <p:spPr>
          <a:xfrm>
            <a:off x="7680960" y="267919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intervalo de elementos (-1 = último)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300984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640080" y="3300984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(Lista)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103120" y="3300984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8" name="Text 26"/>
          <p:cNvSpPr txBox="1"/>
          <p:nvPr/>
        </p:nvSpPr>
        <p:spPr>
          <a:xfrm>
            <a:off x="2194560" y="330098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LPOP / RPOP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023360" y="3300984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0" name="Text 28"/>
          <p:cNvSpPr txBox="1"/>
          <p:nvPr/>
        </p:nvSpPr>
        <p:spPr>
          <a:xfrm>
            <a:off x="4114800" y="330098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LPOP fila:pedidos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89520" y="3300984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2" name="Text 30"/>
          <p:cNvSpPr txBox="1"/>
          <p:nvPr/>
        </p:nvSpPr>
        <p:spPr>
          <a:xfrm>
            <a:off x="7680960" y="330098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 retorna a ponta da lista (fila FIFO)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3922776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4" name="Text 32"/>
          <p:cNvSpPr txBox="1"/>
          <p:nvPr/>
        </p:nvSpPr>
        <p:spPr>
          <a:xfrm>
            <a:off x="640080" y="392277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(Set)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03120" y="3922776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6" name="Text 34"/>
          <p:cNvSpPr txBox="1"/>
          <p:nvPr/>
        </p:nvSpPr>
        <p:spPr>
          <a:xfrm>
            <a:off x="2194560" y="392277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SADD chave membro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023360" y="3922776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8" name="Text 36"/>
          <p:cNvSpPr txBox="1"/>
          <p:nvPr/>
        </p:nvSpPr>
        <p:spPr>
          <a:xfrm>
            <a:off x="4114800" y="392277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SADD tags:post1 "redis" "nosql"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589520" y="3922776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0" name="Text 38"/>
          <p:cNvSpPr txBox="1"/>
          <p:nvPr/>
        </p:nvSpPr>
        <p:spPr>
          <a:xfrm>
            <a:off x="7680960" y="39227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 membros únicos a um conjunto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544568"/>
            <a:ext cx="155448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2" name="Text 40"/>
          <p:cNvSpPr txBox="1"/>
          <p:nvPr/>
        </p:nvSpPr>
        <p:spPr>
          <a:xfrm>
            <a:off x="640080" y="45445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(Set)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103120" y="4544568"/>
            <a:ext cx="192024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4" name="Text 42"/>
          <p:cNvSpPr txBox="1"/>
          <p:nvPr/>
        </p:nvSpPr>
        <p:spPr>
          <a:xfrm>
            <a:off x="2194560" y="454456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SMEMBERS / SISMEMBER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023360" y="4544568"/>
            <a:ext cx="35661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6" name="Text 44"/>
          <p:cNvSpPr txBox="1"/>
          <p:nvPr/>
        </p:nvSpPr>
        <p:spPr>
          <a:xfrm>
            <a:off x="4114800" y="454456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SISMEMBER tags:post1 "redis"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589520" y="4544568"/>
            <a:ext cx="4023360" cy="621792"/>
          </a:xfrm>
          <a:prstGeom prst="rect">
            <a:avLst/>
          </a:prstGeom>
          <a:solidFill>
            <a:srgbClr val="F6F5F4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8" name="Text 46"/>
          <p:cNvSpPr txBox="1"/>
          <p:nvPr/>
        </p:nvSpPr>
        <p:spPr>
          <a:xfrm>
            <a:off x="7680960" y="454456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membros ou verifica pertencimento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5166360"/>
            <a:ext cx="155448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0" name="Text 48"/>
          <p:cNvSpPr txBox="1"/>
          <p:nvPr/>
        </p:nvSpPr>
        <p:spPr>
          <a:xfrm>
            <a:off x="640080" y="51663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(Set)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103120" y="5166360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2" name="Text 50"/>
          <p:cNvSpPr txBox="1"/>
          <p:nvPr/>
        </p:nvSpPr>
        <p:spPr>
          <a:xfrm>
            <a:off x="2194560" y="5166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SREM chave membro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023360" y="5166360"/>
            <a:ext cx="3566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4" name="Text 52"/>
          <p:cNvSpPr txBox="1"/>
          <p:nvPr/>
        </p:nvSpPr>
        <p:spPr>
          <a:xfrm>
            <a:off x="4114800" y="5166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SREM tags:post1 "redis"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589520" y="5166360"/>
            <a:ext cx="4023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6" name="Text 54"/>
          <p:cNvSpPr txBox="1"/>
          <p:nvPr/>
        </p:nvSpPr>
        <p:spPr>
          <a:xfrm>
            <a:off x="7680960" y="516636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um membro específico do conjunto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PREFERIDA PARA RANKINGS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 Sorted Sets (ZSet)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ZADD chave score membro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Insere/atualiza um membro com uma pontuação (score) numérica associada.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ZRANGE / ZREVRANGE chave ini fim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membros ordenados pelo score (crescente ou decrescente).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ZSCORE chave membro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a pontuação atual de um membro específico.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ZINCRBY chave incremento membro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 o score de um membro atomicamente — ideal para pontuação em tempo real.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ZREM chave membro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um membro do conjunto ordenado.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ext 1"/>
          <p:cNvSpPr txBox="1"/>
          <p:nvPr/>
        </p:nvSpPr>
        <p:spPr>
          <a:xfrm>
            <a:off x="0" y="19202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69748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com Python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3977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sua aplicação ao banco chave-valor com redis-py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E PRIMEIRA CONEXÃO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Biblioteca redis-py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4572000"/>
          </a:xfrm>
          <a:prstGeom prst="roundRect">
            <a:avLst>
              <a:gd name="adj" fmla="val 1600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49808" y="173736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950976" y="173736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1152144" y="173736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instalação (VSCode / terminal local ou Google Colab)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redis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conexao.py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redis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redis.Redis(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host="localhost",      # ou host do Redis Cloud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port=6379,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password=None,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decode_responses=True,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print(r.ping())  # True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FUNCIONAM — A DIFERENÇA É O SERVIDOR REDIS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Executar: VSCode ou Google Colab?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VSCode (local)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Redis roda na própria máquina (Docker ou instalação nativa).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= "localhost", port = 6379 — sem necessidade de senha.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desenvolvimento contínuo e depuração passo a passo.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Google Colab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42316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Colab NÃO tem servidor Redis embutido — é necessário um Redis remoto.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gratuita: criar um banco no Redis Cloud (redis.io/try-free, 30MB grátis) e usar host/porta/senha fornecidos.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apenas para fins didáticos: instalar Redis no próprio Colab via !apt-get install redis-server (efêmero, apaga ao fechar).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COM SERVIDOR REMOTO GRATUITO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Conectando pelo Google Colab (Redis Cloud)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023360"/>
          </a:xfrm>
          <a:prstGeom prst="roundRect">
            <a:avLst>
              <a:gd name="adj" fmla="val 1818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49808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950976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115214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10515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redis -q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redis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redis.Redis(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host="redis-XXXXX.c.redis-cloud.com",  # copiado do painel do Redis Cloud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port=17845,                             # porta fornecida no painel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password="SUA_SENHA_AQUI",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decode_responses=True,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r.set("aula", "chave-valor")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C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print(r.get("aula"))  # -&gt; chave-valor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Nunca deixe usuário/senha do banco em código versionado publicamente (use variáveis de ambiente em projetos reais).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COMANDOS, AGORA COMO MÉTODOS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Completo em Python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480560"/>
          </a:xfrm>
          <a:prstGeom prst="roundRect">
            <a:avLst>
              <a:gd name="adj" fmla="val 1633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49808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950976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115214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10515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r.set("produto:1", "Notebook")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r.hset("user:1", mapping={"nome": "Ana", "idade": 22})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READ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 = r.get("produto:1")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 = r.hgetall("user:1")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UPDATE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r.hincrby("user:1", "idade", 1)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DELETE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r.delete("produto:1")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PRONTO PARA PRODUÇÃO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 de Conexões e Tratamento de Erros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480560"/>
          </a:xfrm>
          <a:prstGeom prst="roundRect">
            <a:avLst>
              <a:gd name="adj" fmla="val 1633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49808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950976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115214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10515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redis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pool = redis.ConnectionPool(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host="localhost", port=6379, decode_responses=True, max_connections=20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redis.Redis(connection_pool=pool)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r.set("chave", "valor", ex=30)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redis.exceptions.ConnectionError: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print("Não foi possível conectar ao Redis.")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redis.exceptions.TimeoutError: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print("Tempo de resposta excedido.")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ext 1"/>
          <p:cNvSpPr txBox="1"/>
          <p:nvPr/>
        </p:nvSpPr>
        <p:spPr>
          <a:xfrm>
            <a:off x="0" y="19202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69748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Aplicações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3977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Redis realmente brilha em sistemas de produção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USO MAIS COMUM DE REDIS NO MUNDO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1 — Cache (Cache-Aside)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73736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Text 5"/>
          <p:cNvSpPr txBox="1"/>
          <p:nvPr/>
        </p:nvSpPr>
        <p:spPr>
          <a:xfrm>
            <a:off x="4663440" y="173736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(cache)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503920" y="173736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1B1F27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8503920" y="173736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(fonte da verdade)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</a:rPr>
              <a:t>① consulta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74720" y="2240280"/>
            <a:ext cx="1188720" cy="0"/>
          </a:xfrm>
          <a:prstGeom prst="line">
            <a:avLst/>
          </a:prstGeom>
          <a:noFill/>
          <a:ln w="19050">
            <a:solidFill>
              <a:srgbClr val="2B2F38"/>
            </a:solidFill>
            <a:prstDash val="solid"/>
            <a:tailEnd type="triangle"/>
          </a:ln>
        </p:spPr>
        <p:txBody>
          <a:bodyPr/>
          <a:lstStyle/>
          <a:p>
            <a:endParaRPr lang="en-BR"/>
          </a:p>
        </p:txBody>
      </p:sp>
      <p:sp>
        <p:nvSpPr>
          <p:cNvPr id="12" name="Text 10"/>
          <p:cNvSpPr txBox="1"/>
          <p:nvPr/>
        </p:nvSpPr>
        <p:spPr>
          <a:xfrm>
            <a:off x="7360920" y="1417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</a:rPr>
              <a:t>② se não houver (miss)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0" y="2240280"/>
            <a:ext cx="1188720" cy="0"/>
          </a:xfrm>
          <a:prstGeom prst="line">
            <a:avLst/>
          </a:prstGeom>
          <a:noFill/>
          <a:ln w="19050">
            <a:solidFill>
              <a:srgbClr val="2B2F38"/>
            </a:solidFill>
            <a:prstDash val="solid"/>
            <a:tailEnd type="triangle"/>
          </a:ln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5120640" y="2880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5F66"/>
                </a:solidFill>
              </a:rPr>
              <a:t>③ grava no cache com TTL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9184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 aplicação primeiro pergunta ao Redis (GET). Se existir (cache hit), retorna imediatamente — sem tocar no banco relacional.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 não existir (cache miss), a aplicação consulta o SQL Server, obtém o dado.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 aplicação grava o resultado no Redis com um TTL (SET ... EX 300) antes de retornar ao usuário.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Próximas requisições pela mesma chave são atendidas em microssegundos, sem sobrecarregar o banco relacional.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GERENCIAMENTO DE ESTADO SEM SOBRECARREGAR O BD PRINCIPAL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2 — Sessões e Autenticação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760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usuário autenticado recebe um token de sessão armazenado como chave: sessao:&lt;token&gt;.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guarda dados do usuário (hash) e um TTL correspondente ao tempo de sessão (ex.: 30 minutos).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requisição, a aplicação valida o token com GET/HGETALL e renova o TTL com EXPIRE.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compartilhar sessão entre múltiplas instâncias da aplicação (arquitetura stateless + Redis como estado centralizado).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92240" y="1600200"/>
            <a:ext cx="5120640" cy="4297680"/>
          </a:xfrm>
          <a:prstGeom prst="roundRect">
            <a:avLst>
              <a:gd name="adj" fmla="val 1702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6693408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6894576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Shape 6"/>
          <p:cNvSpPr/>
          <p:nvPr/>
        </p:nvSpPr>
        <p:spPr>
          <a:xfrm>
            <a:off x="709574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6766560" y="201168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r.hset(f"sessao:{token}", mapping={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"usuario_id": 42, "nome": "Ana"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r.expire(f"sessao:{token}", 1800)  # 30 min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validar sessão em cada requisição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r.exists(f"sessao:{token}"):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r.expire(f"sessao:{token}", 1800)  # renova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dados = r.hgetall(f"sessao:{token}")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ASSÍNCRONA ENTRE SERVIÇOS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3 — Filas e Pub/Sub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simples (Listas)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4800600" cy="1737360"/>
          </a:xfrm>
          <a:prstGeom prst="roundRect">
            <a:avLst>
              <a:gd name="adj" fmla="val 4211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1024128" y="24688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Shape 6"/>
          <p:cNvSpPr/>
          <p:nvPr/>
        </p:nvSpPr>
        <p:spPr>
          <a:xfrm>
            <a:off x="1225296" y="24688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Shape 7"/>
          <p:cNvSpPr/>
          <p:nvPr/>
        </p:nvSpPr>
        <p:spPr>
          <a:xfrm>
            <a:off x="1426464" y="24688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1097280" y="2697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Produtor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r.lpush("fila:emails", pedido_json)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Consumidor (bloqueante)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_, tarefa = r.brpop("fila:emails", timeout=0)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processar(tarefa)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16052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persistem na lista até serem consumidas — ótimo para tarefas que não podem se perder.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160020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3" name="Text 11"/>
          <p:cNvSpPr txBox="1"/>
          <p:nvPr/>
        </p:nvSpPr>
        <p:spPr>
          <a:xfrm>
            <a:off x="6537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(tempo real)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2286000"/>
            <a:ext cx="4800600" cy="1737360"/>
          </a:xfrm>
          <a:prstGeom prst="roundRect">
            <a:avLst>
              <a:gd name="adj" fmla="val 4211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5" name="Shape 13"/>
          <p:cNvSpPr/>
          <p:nvPr/>
        </p:nvSpPr>
        <p:spPr>
          <a:xfrm>
            <a:off x="6739128" y="24688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Shape 14"/>
          <p:cNvSpPr/>
          <p:nvPr/>
        </p:nvSpPr>
        <p:spPr>
          <a:xfrm>
            <a:off x="6940296" y="24688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7" name="Shape 15"/>
          <p:cNvSpPr/>
          <p:nvPr/>
        </p:nvSpPr>
        <p:spPr>
          <a:xfrm>
            <a:off x="7141464" y="24688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Text 16"/>
          <p:cNvSpPr txBox="1"/>
          <p:nvPr/>
        </p:nvSpPr>
        <p:spPr>
          <a:xfrm>
            <a:off x="6812280" y="2697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Publicador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r.publish("canal:notificacoes", "novo pedido!")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Assinante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pubsub = r.pubsub()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pubsub.subscribe("canal:notificacoes")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416052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NÃO ficam persistidas: se não houver assinante ouvindo, a mensagem se perde (fire-and-forget).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PROTEGENDO APIS DE ABUSO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4 — Rate Limiting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760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limitar quantas requisições um cliente (IP, usuário, API key) pode fazer em uma janela de tempo.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"janela fixa": uma chave por cliente+janela de tempo, incrementada a cada requisição.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 é atômico — mesmo com milhares de requisições simultâneas, a contagem nunca perde uma unidade (sem race condition).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 define quando a janela reinicia automaticamente.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92240" y="1600200"/>
            <a:ext cx="5120640" cy="4297680"/>
          </a:xfrm>
          <a:prstGeom prst="roundRect">
            <a:avLst>
              <a:gd name="adj" fmla="val 1702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6693408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6894576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Shape 6"/>
          <p:cNvSpPr/>
          <p:nvPr/>
        </p:nvSpPr>
        <p:spPr>
          <a:xfrm>
            <a:off x="709574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6766560" y="201168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permitir_requisicao(r, ip, limite=10, janela=60):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chave = f"rate:{ip}"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r.incr(chave)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total == 1: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r.expire(chave, janela)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 &lt;= limite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permitir_requisicao(r, "200.1.1.5"):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print("429 - Too Many Requests")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SETS EM AÇÃO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5 — Leaderboards (Rankings)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760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Jogos, gamificação e sistemas de pontuação precisam de rankings sempre atualizados e ordenados.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Sorted Set mantém os membros automaticamente ordenados pelo score — sem precisar reordenar manualmente.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ZINCRBY atualiza a pontuação de forma atômica a cada evento (ex.: usuário ganhou pontos).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ZREVRANGE ... WITHSCORES retorna o Top N em ordem decrescente, com pontuações, em O(log N).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92240" y="1600200"/>
            <a:ext cx="5120640" cy="4297680"/>
          </a:xfrm>
          <a:prstGeom prst="roundRect">
            <a:avLst>
              <a:gd name="adj" fmla="val 1702"/>
            </a:avLst>
          </a:prstGeom>
          <a:solidFill>
            <a:srgbClr val="1B1F27"/>
          </a:solidFill>
          <a:ln w="12700">
            <a:solidFill>
              <a:srgbClr val="2B2F38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6" name="Shape 4"/>
          <p:cNvSpPr/>
          <p:nvPr/>
        </p:nvSpPr>
        <p:spPr>
          <a:xfrm>
            <a:off x="6693408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Shape 5"/>
          <p:cNvSpPr/>
          <p:nvPr/>
        </p:nvSpPr>
        <p:spPr>
          <a:xfrm>
            <a:off x="6894576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Shape 6"/>
          <p:cNvSpPr/>
          <p:nvPr/>
        </p:nvSpPr>
        <p:spPr>
          <a:xfrm>
            <a:off x="709574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6766560" y="201168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r.zadd("ranking:jogo1", {"ana": 1500, "leo": 2100})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jogador pontua mais 50 pontos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r.zincrby("ranking:jogo1", 50, "ana")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A8D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top 3 com pontuação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top3 = r.zrevrange(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"ranking:jogo1", 0, 2, withscores=True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ext 1"/>
          <p:cNvSpPr txBox="1"/>
          <p:nvPr/>
        </p:nvSpPr>
        <p:spPr>
          <a:xfrm>
            <a:off x="0" y="19202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FFFFF">
                    <a:alpha val="1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69748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 Práticas e Encerramento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3977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Comparativo, cuidados de produção e mini-projeto</a:t>
            </a:r>
            <a:endParaRPr lang="en-US" sz="14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SÃO CONCORRENTES: SÃO COMPLEMENTARES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vs SQL Server — Quando Usar Cada Um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743200" cy="56692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658368" y="1645920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1645920"/>
            <a:ext cx="4114800" cy="56692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7" name="Text 5"/>
          <p:cNvSpPr txBox="1"/>
          <p:nvPr/>
        </p:nvSpPr>
        <p:spPr>
          <a:xfrm>
            <a:off x="3401568" y="1645920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(chave-valor)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1645920"/>
            <a:ext cx="4206240" cy="566928"/>
          </a:xfrm>
          <a:prstGeom prst="rect">
            <a:avLst/>
          </a:prstGeom>
          <a:solidFill>
            <a:srgbClr val="1B1F27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7516368" y="164592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(relacional)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212848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658368" y="221284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91840" y="2212848"/>
            <a:ext cx="4114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3" name="Text 11"/>
          <p:cNvSpPr txBox="1"/>
          <p:nvPr/>
        </p:nvSpPr>
        <p:spPr>
          <a:xfrm>
            <a:off x="3401568" y="2212848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→ valor / estruturas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06640" y="2212848"/>
            <a:ext cx="4206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5" name="Text 13"/>
          <p:cNvSpPr txBox="1"/>
          <p:nvPr/>
        </p:nvSpPr>
        <p:spPr>
          <a:xfrm>
            <a:off x="7516368" y="221284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com relacionamentos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779776"/>
            <a:ext cx="274320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7" name="Text 15"/>
          <p:cNvSpPr txBox="1"/>
          <p:nvPr/>
        </p:nvSpPr>
        <p:spPr>
          <a:xfrm>
            <a:off x="658368" y="2779776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Consistência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91840" y="2779776"/>
            <a:ext cx="411480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9" name="Text 17"/>
          <p:cNvSpPr txBox="1"/>
          <p:nvPr/>
        </p:nvSpPr>
        <p:spPr>
          <a:xfrm>
            <a:off x="3401568" y="2779776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Eventual (cluster) / forte (nó único)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06640" y="2779776"/>
            <a:ext cx="420624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7516368" y="277977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forte por padrão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346704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3" name="Text 21"/>
          <p:cNvSpPr txBox="1"/>
          <p:nvPr/>
        </p:nvSpPr>
        <p:spPr>
          <a:xfrm>
            <a:off x="658368" y="3346704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de leitura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91840" y="3346704"/>
            <a:ext cx="4114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5" name="Text 23"/>
          <p:cNvSpPr txBox="1"/>
          <p:nvPr/>
        </p:nvSpPr>
        <p:spPr>
          <a:xfrm>
            <a:off x="3401568" y="3346704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Sub-milissegundo (RAM)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406640" y="3346704"/>
            <a:ext cx="4206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7" name="Text 25"/>
          <p:cNvSpPr txBox="1"/>
          <p:nvPr/>
        </p:nvSpPr>
        <p:spPr>
          <a:xfrm>
            <a:off x="7516368" y="3346704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Milissegundos (disco/índices)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913632"/>
            <a:ext cx="274320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9" name="Text 27"/>
          <p:cNvSpPr txBox="1"/>
          <p:nvPr/>
        </p:nvSpPr>
        <p:spPr>
          <a:xfrm>
            <a:off x="658368" y="3913632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complexas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91840" y="3913632"/>
            <a:ext cx="411480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3401568" y="3913632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Limitadas (sem JOIN nativo)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913632"/>
            <a:ext cx="420624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3" name="Text 31"/>
          <p:cNvSpPr txBox="1"/>
          <p:nvPr/>
        </p:nvSpPr>
        <p:spPr>
          <a:xfrm>
            <a:off x="7516368" y="3913632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completo, JOINs, agregações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4480560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5" name="Text 33"/>
          <p:cNvSpPr txBox="1"/>
          <p:nvPr/>
        </p:nvSpPr>
        <p:spPr>
          <a:xfrm>
            <a:off x="658368" y="4480560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típico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291840" y="4480560"/>
            <a:ext cx="4114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7" name="Text 35"/>
          <p:cNvSpPr txBox="1"/>
          <p:nvPr/>
        </p:nvSpPr>
        <p:spPr>
          <a:xfrm>
            <a:off x="3401568" y="4480560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sessão, fila, ranking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06640" y="4480560"/>
            <a:ext cx="4206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39" name="Text 37"/>
          <p:cNvSpPr txBox="1"/>
          <p:nvPr/>
        </p:nvSpPr>
        <p:spPr>
          <a:xfrm>
            <a:off x="7516368" y="448056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Pedidos, financeiro, catálogo, auditoria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047488"/>
            <a:ext cx="274320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1" name="Text 39"/>
          <p:cNvSpPr txBox="1"/>
          <p:nvPr/>
        </p:nvSpPr>
        <p:spPr>
          <a:xfrm>
            <a:off x="658368" y="504748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garantida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3291840" y="5047488"/>
            <a:ext cx="411480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3" name="Text 41"/>
          <p:cNvSpPr txBox="1"/>
          <p:nvPr/>
        </p:nvSpPr>
        <p:spPr>
          <a:xfrm>
            <a:off x="3401568" y="5047488"/>
            <a:ext cx="3895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 (RDB/AOF)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406640" y="5047488"/>
            <a:ext cx="4206240" cy="566928"/>
          </a:xfrm>
          <a:prstGeom prst="rect">
            <a:avLst/>
          </a:prstGeom>
          <a:solidFill>
            <a:srgbClr val="F6F5F4"/>
          </a:solidFill>
          <a:ln w="635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5" name="Text 43"/>
          <p:cNvSpPr txBox="1"/>
          <p:nvPr/>
        </p:nvSpPr>
        <p:spPr>
          <a:xfrm>
            <a:off x="7516368" y="504748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(transaction log)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843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6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Em produção, o padrão de mercado é usar os DOIS juntos: SQL Server como fonte da verdade + Redis como camada de cache/velocidade.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EVITE AS ARMADILHAS MAIS COMUNS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 Práticas em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749808" y="1755648"/>
            <a:ext cx="502920" cy="50292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749808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chaves com padrão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249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namespaces com ":" — ex.: usuario:102:perfil — facilita organização e buscas.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Shape 8"/>
          <p:cNvSpPr/>
          <p:nvPr/>
        </p:nvSpPr>
        <p:spPr>
          <a:xfrm>
            <a:off x="4498848" y="1755648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4498848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43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37744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defina TTL quando fizer sentido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7249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crescimento infinito de memória com dados que deveriam ser temporários.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Shape 13"/>
          <p:cNvSpPr/>
          <p:nvPr/>
        </p:nvSpPr>
        <p:spPr>
          <a:xfrm>
            <a:off x="8247888" y="1755648"/>
            <a:ext cx="502920" cy="50292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8247888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</a:t>
            </a:r>
            <a:endParaRPr lang="en-US" sz="143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237744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use KEYS * em produção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7249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o servidor (single-thread). Use SCAN para iterar chaves com segurança.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Shape 18"/>
          <p:cNvSpPr/>
          <p:nvPr/>
        </p:nvSpPr>
        <p:spPr>
          <a:xfrm>
            <a:off x="749808" y="3904488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749808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52628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 o uso de memória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8737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memory e maxmemory-policy (ex.: allkeys-lru) evitam estouro de RAM.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033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5" name="Shape 23"/>
          <p:cNvSpPr/>
          <p:nvPr/>
        </p:nvSpPr>
        <p:spPr>
          <a:xfrm>
            <a:off x="4498848" y="3904488"/>
            <a:ext cx="502920" cy="502920"/>
          </a:xfrm>
          <a:prstGeom prst="ellipse">
            <a:avLst/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4498848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1430" dirty="0"/>
          </a:p>
        </p:txBody>
      </p:sp>
      <p:sp>
        <p:nvSpPr>
          <p:cNvPr id="27" name="Text 25"/>
          <p:cNvSpPr txBox="1"/>
          <p:nvPr/>
        </p:nvSpPr>
        <p:spPr>
          <a:xfrm>
            <a:off x="4498848" y="452628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Habilite autenticação e TLS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498848" y="48737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requirepass, ACLs por usuário e criptografia em trânsito em ambientes expostos.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46720" y="370332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0" name="Shape 28"/>
          <p:cNvSpPr/>
          <p:nvPr/>
        </p:nvSpPr>
        <p:spPr>
          <a:xfrm>
            <a:off x="8247888" y="3904488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8247888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🧵</a:t>
            </a:r>
            <a:endParaRPr lang="en-US" sz="1430" dirty="0"/>
          </a:p>
        </p:txBody>
      </p:sp>
      <p:sp>
        <p:nvSpPr>
          <p:cNvPr id="32" name="Text 30"/>
          <p:cNvSpPr txBox="1"/>
          <p:nvPr/>
        </p:nvSpPr>
        <p:spPr>
          <a:xfrm>
            <a:off x="8247888" y="4526280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com comandos O(N)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8247888" y="48737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SMEMBERS/LRANGE em coleções gigantes podem travar o event loop — pagine os resultados.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DE CONSULTA RÁPIDA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Comandos</a:t>
            </a: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Essenciais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685800" y="1691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1600200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PING, DBSIZE, EXISTS, DEL, EXPIRE, TTL, KEYS(evitar)/SCAN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21992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Shape 7"/>
          <p:cNvSpPr/>
          <p:nvPr/>
        </p:nvSpPr>
        <p:spPr>
          <a:xfrm>
            <a:off x="685800" y="2313432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Text 8"/>
          <p:cNvSpPr txBox="1"/>
          <p:nvPr/>
        </p:nvSpPr>
        <p:spPr>
          <a:xfrm>
            <a:off x="685800" y="23134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2221992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SET, GET, MSET, MGET, INCR, INCRBY, APPEND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3" name="Shape 11"/>
          <p:cNvSpPr/>
          <p:nvPr/>
        </p:nvSpPr>
        <p:spPr>
          <a:xfrm>
            <a:off x="685800" y="2935224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685800" y="29352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2843784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HSET, HGET, HGETALL, HDEL, HINCRBY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7" name="Shape 15"/>
          <p:cNvSpPr/>
          <p:nvPr/>
        </p:nvSpPr>
        <p:spPr>
          <a:xfrm>
            <a:off x="685800" y="3557016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Text 16"/>
          <p:cNvSpPr txBox="1"/>
          <p:nvPr/>
        </p:nvSpPr>
        <p:spPr>
          <a:xfrm>
            <a:off x="685800" y="3557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423160" y="346557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LPUSH, RPUSH, LRANGE, LPOP, RPOP, BRPOP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Shape 19"/>
          <p:cNvSpPr/>
          <p:nvPr/>
        </p:nvSpPr>
        <p:spPr>
          <a:xfrm>
            <a:off x="685800" y="4178808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Text 20"/>
          <p:cNvSpPr txBox="1"/>
          <p:nvPr/>
        </p:nvSpPr>
        <p:spPr>
          <a:xfrm>
            <a:off x="685800" y="41788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4087368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SADD, SMEMBERS, SISMEMBER, SREM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5" name="Shape 23"/>
          <p:cNvSpPr/>
          <p:nvPr/>
        </p:nvSpPr>
        <p:spPr>
          <a:xfrm>
            <a:off x="685800" y="4800600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6" name="Text 24"/>
          <p:cNvSpPr txBox="1"/>
          <p:nvPr/>
        </p:nvSpPr>
        <p:spPr>
          <a:xfrm>
            <a:off x="685800" y="4800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Set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709160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ZADD, ZRANGE, ZREVRANGE, ZSCORE, ZINCRBY, ZREM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330952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6F5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9" name="Shape 27"/>
          <p:cNvSpPr/>
          <p:nvPr/>
        </p:nvSpPr>
        <p:spPr>
          <a:xfrm>
            <a:off x="685800" y="5422392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DC382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0" name="Text 28"/>
          <p:cNvSpPr txBox="1"/>
          <p:nvPr/>
        </p:nvSpPr>
        <p:spPr>
          <a:xfrm>
            <a:off x="685800" y="54223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423160" y="5330952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PUBLISH, SUBSCRIBE, PSUBSCRIBE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TUDO O QUE FOI APRENDIDO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Mini-Projeto: Sistema de E-commerce Simplificado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Construir, em Python + Redis, um mini sistema com: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D6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produtos (Hash) com CRUD completo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D6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de compras por usuário (Hash ou List) com TTL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D6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visualizações por produto (String + INCR)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D6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dos produtos mais vendidos (Sorted Set)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D6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processamento de pedidos (List + BRPOP)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D6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simples na "API" de consulta (INCR + EXPIRE)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Especificação completa, critérios de avaliação e template de código: arquivo mini_projeto.md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C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CONTINUAR ESTUDANDO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e Próximos Passos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oficial: redis.io/docs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University (cursos gratuitos oficiais): university.redis.com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Livro: "Redis in Action" — Josiah L. Carlson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Python: redis-py — github.com/redis/redis-py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Cloud (free tier para testes e projetos): redis.io/try-free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Chave-Valor  |  Redis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4643</Words>
  <Application>Microsoft Macintosh PowerPoint</Application>
  <PresentationFormat>Widescreen</PresentationFormat>
  <Paragraphs>766</Paragraphs>
  <Slides>45</Slides>
  <Notes>45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Henrique Dezani</cp:lastModifiedBy>
  <cp:revision>2</cp:revision>
  <dcterms:created xsi:type="dcterms:W3CDTF">2026-09-03T17:13:37Z</dcterms:created>
  <dcterms:modified xsi:type="dcterms:W3CDTF">2026-09-03T18:34:10Z</dcterms:modified>
</cp:coreProperties>
</file>