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301" r:id="rId15"/>
    <p:sldId id="257" r:id="rId16"/>
    <p:sldId id="302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86062"/>
  </p:normalViewPr>
  <p:slideViewPr>
    <p:cSldViewPr snapToGrid="0" snapToObjects="1">
      <p:cViewPr varScale="1">
        <p:scale>
          <a:sx n="100" d="100"/>
          <a:sy n="100" d="100"/>
        </p:scale>
        <p:origin x="10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00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BR" b="1" dirty="0"/>
              <a:t>A diferença prática que importa</a:t>
            </a:r>
          </a:p>
          <a:p>
            <a:pPr rtl="0"/>
            <a:r>
              <a:rPr lang="en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SMEMBERS</a:t>
            </a:r>
            <a:endParaRPr lang="en-BR" dirty="0"/>
          </a:p>
          <a:p>
            <a:pPr rtl="0"/>
            <a:r>
              <a:rPr lang="en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SISMEMBER</a:t>
            </a:r>
            <a:endParaRPr lang="en-BR" dirty="0"/>
          </a:p>
          <a:p>
            <a:pPr rtl="0"/>
            <a:r>
              <a:rPr lang="en-BR" dirty="0"/>
              <a:t>Pergunta que responde"o que tem aí dentro?""esse item específico está aí?"</a:t>
            </a:r>
          </a:p>
          <a:p>
            <a:pPr rtl="0"/>
            <a:r>
              <a:rPr lang="en-BR" dirty="0"/>
              <a:t>ComplexidadeO(N) — cresce com o tamanhoO(1) — sempre rápido</a:t>
            </a:r>
          </a:p>
          <a:p>
            <a:pPr rtl="0"/>
            <a:r>
              <a:rPr lang="en-BR" dirty="0"/>
              <a:t>Uso típicoExibir todas as tags/categorias de algoChecar permissão, "curtida", presença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88952" cy="6858000"/>
          </a:xfrm>
          <a:prstGeom prst="rect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8778240" y="54864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DC382C"/>
          </a:solidFill>
          <a:ln w="12700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Shape 2"/>
          <p:cNvSpPr/>
          <p:nvPr/>
        </p:nvSpPr>
        <p:spPr>
          <a:xfrm>
            <a:off x="10332720" y="54864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2B2F38"/>
          </a:solidFill>
          <a:ln w="12700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8778240" y="210312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2B2F38"/>
          </a:solidFill>
          <a:ln w="12700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10332720" y="210312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DC382C"/>
          </a:solidFill>
          <a:ln w="12700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8778240" y="365760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2B2F38"/>
          </a:solidFill>
          <a:ln w="12700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0332720" y="365760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2B2F38"/>
          </a:solidFill>
          <a:ln w="12700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624840" y="250317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NÃO RELACIONAL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52603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Bancos de Dados Chave-Valor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1475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5675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Dr. Henrique Dezani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VOCÊ SERÁ CAPAZ DE: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706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dados chave-valor e sua posição dentro do Teorema CAP.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23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706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CRUD completos no Redis via CLI e via Python (redis-py).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423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706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em cenários reais: cache, sessão, filas, rate limiting e ranking.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7375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com bancos relacionais (SQL Server)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4526280" y="3931920"/>
            <a:ext cx="457200" cy="45720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4526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87375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mini-projeto funcional utilizando Redis + Python.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Shape 28"/>
          <p:cNvSpPr/>
          <p:nvPr/>
        </p:nvSpPr>
        <p:spPr>
          <a:xfrm>
            <a:off x="8275320" y="3931920"/>
            <a:ext cx="457200" cy="45720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82753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87375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banco chave-valor é a escolha arquitetural correta.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0" y="1920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6974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Chave-Valor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977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NoSQL e o modelo de dados mais simples e mais rápido que existe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Recapitulando: as 4 famílias de NoSQL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Chave-Valor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u="sng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r>
              <a:rPr lang="en-US" sz="1100" i="1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DynamoDB, Riak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O(1) por chave. Foco nesta aula.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u="sng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r>
              <a:rPr lang="en-US" sz="11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CouchDB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JSON/BSON auto-descritivos.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Cassandra, HBase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 para escrita massiva e séries temporais.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92354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u="sng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r>
              <a:rPr lang="en-US" sz="11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ArangoDB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como cidadãos de 1ª classe.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Banco de Dados Chave-Valor?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mais simples: um mapa/dicionário persistente e distribuído.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é um par único: uma chave (identificador) aponta para um valor (dado bruto ou estruturado).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esquema, não há relacionamentos, não há linguagem de consulta declarativa (como SQL).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não entende o conteúdo do valor — apenas armazena e recupera pela chave.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direta: um dicionário Python, um objeto JSON simples, ou um HashMap em memória.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75120" y="182880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69494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conceitual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2514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694944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usuario:102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235440" y="25146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928116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"Maria Silva"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0" y="33832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 txBox="1"/>
          <p:nvPr/>
        </p:nvSpPr>
        <p:spPr>
          <a:xfrm>
            <a:off x="69494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carrinho:88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235440" y="33832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928116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{itens: [...], total: 210}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42519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 txBox="1"/>
          <p:nvPr/>
        </p:nvSpPr>
        <p:spPr>
          <a:xfrm>
            <a:off x="6949440" y="4251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sessao:af31c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4251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42519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9281160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JWT...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CHAVE-VALOR?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Vantagens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502920" cy="50292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74980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extrema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249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O(1). Dados normalmente residentes em memória RAM (Redis, Memcached).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4498848" y="175564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449884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3774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horizontal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7249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Particionamento (sharding) natural pela chave, distribuindo carga entre nós.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8247888" y="1755648"/>
            <a:ext cx="502920" cy="50292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824788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3774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de modelo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7249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JOINs, sem schema rígido — reduz complexidade de modelagem e migração.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749808" y="39044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7498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5262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87375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 simples primary-replica e failover automático (Sentinel/Cluster).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4498848" y="3904488"/>
            <a:ext cx="502920" cy="50292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449884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498848" y="45262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latência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487375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cache, sessões e dados efêmeros com TTL (expiração automática).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Shape 28"/>
          <p:cNvSpPr/>
          <p:nvPr/>
        </p:nvSpPr>
        <p:spPr>
          <a:xfrm>
            <a:off x="8247888" y="39044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824788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45262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ricas (Redis)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87375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string: listas, sets, hashes, sorted sets, streams — não é só um dicionário.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ARQUITETURAL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(e quando NÃO usar)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EAF7F0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Quando usar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aplicação (resultado de consultas caras)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de usuário e tokens de autenticação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em tempo real (views, likes, rate limit)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mensagens leves e Pub/Sub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e leaderboards (games, gamificação)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efêmeros com expiração (TTL)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Evite usar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fortemente relacionais com muitos JOINs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ad-hoc complexas e analíticas (BI)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transações ACID multi-registro complexas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volumes que </a:t>
            </a:r>
            <a:r>
              <a:rPr lang="en-US" sz="1300" dirty="0" err="1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30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cabem</a:t>
            </a:r>
            <a:r>
              <a:rPr lang="en-US" sz="130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30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Bancos Chave-Valor do Mercado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56692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600200"/>
            <a:ext cx="2468880" cy="56692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 txBox="1"/>
          <p:nvPr/>
        </p:nvSpPr>
        <p:spPr>
          <a:xfrm>
            <a:off x="3017520" y="1600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1600200"/>
            <a:ext cx="3383280" cy="56692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5486400" y="1600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uso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0" y="1600200"/>
            <a:ext cx="2834640" cy="56692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8869680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 txBox="1"/>
          <p:nvPr/>
        </p:nvSpPr>
        <p:spPr>
          <a:xfrm>
            <a:off x="640080" y="2167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167128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 txBox="1"/>
          <p:nvPr/>
        </p:nvSpPr>
        <p:spPr>
          <a:xfrm>
            <a:off x="3017520" y="21671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+ disco (RDB/AOF)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167128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 txBox="1"/>
          <p:nvPr/>
        </p:nvSpPr>
        <p:spPr>
          <a:xfrm>
            <a:off x="5486400" y="2167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filas, dados estruturados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2167128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 txBox="1"/>
          <p:nvPr/>
        </p:nvSpPr>
        <p:spPr>
          <a:xfrm>
            <a:off x="8869680" y="21671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ricas + altíssima performance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34056"/>
            <a:ext cx="237744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640080" y="27340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2734056"/>
            <a:ext cx="246888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 txBox="1"/>
          <p:nvPr/>
        </p:nvSpPr>
        <p:spPr>
          <a:xfrm>
            <a:off x="3017520" y="27340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(SSD gerenciado)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2734056"/>
            <a:ext cx="338328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 txBox="1"/>
          <p:nvPr/>
        </p:nvSpPr>
        <p:spPr>
          <a:xfrm>
            <a:off x="5486400" y="27340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gerenciado na AWS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78240" y="2734056"/>
            <a:ext cx="283464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 txBox="1"/>
          <p:nvPr/>
        </p:nvSpPr>
        <p:spPr>
          <a:xfrm>
            <a:off x="8869680" y="27340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automática, SLA de disponibilidade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00984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 txBox="1"/>
          <p:nvPr/>
        </p:nvSpPr>
        <p:spPr>
          <a:xfrm>
            <a:off x="640080" y="33009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Memcached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3300984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3017520" y="33009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RAM (volátil)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3300984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 txBox="1"/>
          <p:nvPr/>
        </p:nvSpPr>
        <p:spPr>
          <a:xfrm>
            <a:off x="5486400" y="33009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puro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78240" y="330098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 txBox="1"/>
          <p:nvPr/>
        </p:nvSpPr>
        <p:spPr>
          <a:xfrm>
            <a:off x="8869680" y="33009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Extremamente simples e leve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867912"/>
            <a:ext cx="237744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7" name="Text 35"/>
          <p:cNvSpPr txBox="1"/>
          <p:nvPr/>
        </p:nvSpPr>
        <p:spPr>
          <a:xfrm>
            <a:off x="640080" y="38679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Riak KV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0" y="3867912"/>
            <a:ext cx="246888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 txBox="1"/>
          <p:nvPr/>
        </p:nvSpPr>
        <p:spPr>
          <a:xfrm>
            <a:off x="3017520" y="38679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distribuído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94960" y="3867912"/>
            <a:ext cx="338328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 txBox="1"/>
          <p:nvPr/>
        </p:nvSpPr>
        <p:spPr>
          <a:xfrm>
            <a:off x="5486400" y="38679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geo-distribuída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78240" y="3867912"/>
            <a:ext cx="283464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3" name="Text 41"/>
          <p:cNvSpPr txBox="1"/>
          <p:nvPr/>
        </p:nvSpPr>
        <p:spPr>
          <a:xfrm>
            <a:off x="8869680" y="38679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partição (AP) nativa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434840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5" name="Text 43"/>
          <p:cNvSpPr txBox="1"/>
          <p:nvPr/>
        </p:nvSpPr>
        <p:spPr>
          <a:xfrm>
            <a:off x="640080" y="4434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926080" y="4434840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7" name="Text 45"/>
          <p:cNvSpPr txBox="1"/>
          <p:nvPr/>
        </p:nvSpPr>
        <p:spPr>
          <a:xfrm>
            <a:off x="3017520" y="4434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(Raft)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94960" y="4434840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9" name="Text 47"/>
          <p:cNvSpPr txBox="1"/>
          <p:nvPr/>
        </p:nvSpPr>
        <p:spPr>
          <a:xfrm>
            <a:off x="5486400" y="44348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distribuída, service discovery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778240" y="443484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1" name="Text 49"/>
          <p:cNvSpPr txBox="1"/>
          <p:nvPr/>
        </p:nvSpPr>
        <p:spPr>
          <a:xfrm>
            <a:off x="8869680" y="4434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consistência (CP), usado no Kubernetes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0" y="1920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6974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CAP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977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trade-off fundamental de todo sistema de dados distribuído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BREWER, 2000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Teorema CAP?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Formulado por Eric Brewer (2000) e provado formalmente por Gilbert &amp; Lynch (2002).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 que um sistema de dados distribuído só pode garantir, no máximo, DUAS das três propriedades a seguir, simultaneamente, durante uma falha de rede.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escolha "para sempre": é uma decisão sobre o comportamento do sistema no momento em que a rede falha (partição).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teórica para entender por que bancos NoSQL fazem trade-offs diferentes dos relacionais tradicionais.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649224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1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(Consistência)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1031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leitura recebe a escrita mais recente ou um erro.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315468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649224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1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(Disponibilidade)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3520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requisição recebe uma resposta (sem garantir que seja a mais recente).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4572000"/>
            <a:ext cx="777240" cy="77724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649224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1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572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Tolerance (Tolerância a Partição)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4937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continua operando mesmo com perda de mensagens entre os nós.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TRIÂNGULO DO CAP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2 de 3: CP vs AP vs 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1691640"/>
            <a:ext cx="3657600" cy="3108960"/>
          </a:xfrm>
          <a:prstGeom prst="triangle">
            <a:avLst/>
          </a:prstGeom>
          <a:solidFill>
            <a:srgbClr val="F6F5F4"/>
          </a:solidFill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4754880" y="137160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80" dirty="0"/>
          </a:p>
        </p:txBody>
      </p:sp>
      <p:sp>
        <p:nvSpPr>
          <p:cNvPr id="7" name="Shape 5"/>
          <p:cNvSpPr/>
          <p:nvPr/>
        </p:nvSpPr>
        <p:spPr>
          <a:xfrm>
            <a:off x="2926080" y="466344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292608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80" dirty="0"/>
          </a:p>
        </p:txBody>
      </p:sp>
      <p:sp>
        <p:nvSpPr>
          <p:cNvPr id="9" name="Shape 7"/>
          <p:cNvSpPr/>
          <p:nvPr/>
        </p:nvSpPr>
        <p:spPr>
          <a:xfrm>
            <a:off x="6583680" y="4663440"/>
            <a:ext cx="731520" cy="73152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658368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536769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160020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7498080" y="17373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7498080" y="1737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1719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+ Partição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1305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dados corretos; pode recusar responder durante falha de rede.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624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MongoDB, HBase, Redis Cluster, etcd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60920" y="320040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7498080" y="33375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 txBox="1"/>
          <p:nvPr/>
        </p:nvSpPr>
        <p:spPr>
          <a:xfrm>
            <a:off x="7498080" y="3337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3192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+ Partição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3730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responde; pode devolver dados desatualizados (consistência eventual).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224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Cassandra, DynamoDB, Riak, CouchDB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60920" y="480060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Shape 25"/>
          <p:cNvSpPr/>
          <p:nvPr/>
        </p:nvSpPr>
        <p:spPr>
          <a:xfrm>
            <a:off x="7498080" y="49377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 txBox="1"/>
          <p:nvPr/>
        </p:nvSpPr>
        <p:spPr>
          <a:xfrm>
            <a:off x="7498080" y="4937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919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+ Disponibilidade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53309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existe sem partição de rede — na prática, bancos de 1 nó (não distribuídos).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5824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SQL Server / PostgreSQL single-node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VERDADEIRO TRADE-OFF É C VS 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Prática: P Não é Opcional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sistemas distribuídos reais, falhas de rede acontecem — é inevitável.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a Tolerância a Partição (P) deixa de ser uma escolha: ela é uma restrição do mundo real.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 arquitetura, então, se resume a: durante uma partição, o sistema privilegia Consistência (C) ou Disponibilidade (A)?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→ o sistema pode recusar/atrasar respostas para garantir que o dado devolvido esteja correto.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→ o sistema sempre responde, mesmo que o dado devolvido possa estar desatualizado por alguns instantes (consistência eventual).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 de bolso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a rede falhar agora,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sistema prefere..."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...responder errado do que não responder?  →  AP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...não responder do que responder errado?  →  CP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TOPOLOGIA!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Redis se Encaixa no CAP?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777240" y="1810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Standalone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nó só — não há partição possível.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(CA)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máxima, porém é um ponto único de falha (SPOF).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4526280" y="1810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Sentinel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+ failover automático entre primary/replicas.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3154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452628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(tende a)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7033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consistência: promove um novo primary e pode rejeitar escritas durante a eleição.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 txBox="1"/>
          <p:nvPr/>
        </p:nvSpPr>
        <p:spPr>
          <a:xfrm>
            <a:off x="8275320" y="1810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286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+ replicação distribuída em múltiplos nós.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75320" y="3154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 txBox="1"/>
          <p:nvPr/>
        </p:nvSpPr>
        <p:spPr>
          <a:xfrm>
            <a:off x="827532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por padrão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7033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shard sem quorum de nós fica indisponível para escrita — evita dados divergentes.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TUDO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Disponibilidade: Replicação Primary-Replica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91356" y="2148840"/>
            <a:ext cx="2103120" cy="274320"/>
          </a:xfrm>
          <a:prstGeom prst="line">
            <a:avLst/>
          </a:prstGeom>
          <a:noFill/>
          <a:ln w="12700">
            <a:solidFill>
              <a:srgbClr val="8A8D93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6094476" y="2148840"/>
            <a:ext cx="0" cy="274320"/>
          </a:xfrm>
          <a:prstGeom prst="line">
            <a:avLst/>
          </a:prstGeom>
          <a:noFill/>
          <a:ln w="12700">
            <a:solidFill>
              <a:srgbClr val="8A8D93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 flipH="1">
            <a:off x="6094476" y="2148840"/>
            <a:ext cx="2103120" cy="246888"/>
          </a:xfrm>
          <a:prstGeom prst="line">
            <a:avLst/>
          </a:prstGeom>
          <a:noFill/>
          <a:ln w="12700">
            <a:solidFill>
              <a:srgbClr val="8A8D93"/>
            </a:solidFill>
            <a:prstDash val="dash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3076956" y="1691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6F5F4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3076956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80076" y="1691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6F5F4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5180076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83196" y="1691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6F5F4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 txBox="1"/>
          <p:nvPr/>
        </p:nvSpPr>
        <p:spPr>
          <a:xfrm>
            <a:off x="7283196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76956" y="1399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monitoramento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2876" y="24231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 txBox="1"/>
          <p:nvPr/>
        </p:nvSpPr>
        <p:spPr>
          <a:xfrm>
            <a:off x="4722876" y="2478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22876" y="2715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 escrita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4722876" y="2971800"/>
            <a:ext cx="1371600" cy="274320"/>
          </a:xfrm>
          <a:prstGeom prst="line">
            <a:avLst/>
          </a:prstGeom>
          <a:noFill/>
          <a:ln w="19050">
            <a:solidFill>
              <a:srgbClr val="2B2F38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18" name="Shape 16"/>
          <p:cNvSpPr/>
          <p:nvPr/>
        </p:nvSpPr>
        <p:spPr>
          <a:xfrm>
            <a:off x="6094476" y="2971800"/>
            <a:ext cx="1371600" cy="274320"/>
          </a:xfrm>
          <a:prstGeom prst="line">
            <a:avLst/>
          </a:prstGeom>
          <a:noFill/>
          <a:ln w="19050">
            <a:solidFill>
              <a:srgbClr val="2B2F38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3534156" y="324612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 txBox="1"/>
          <p:nvPr/>
        </p:nvSpPr>
        <p:spPr>
          <a:xfrm>
            <a:off x="3534156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34156" y="3538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7356" y="324612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 txBox="1"/>
          <p:nvPr/>
        </p:nvSpPr>
        <p:spPr>
          <a:xfrm>
            <a:off x="6277356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77356" y="3538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Primary aceita leitura e escrita; as Replicas recebem cópias assíncronas e atendem apenas leitura.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1 — Escala de leitura: distribua consultas GET entre várias réplicas, aliviando o Primary.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2 — Backup "morno": se o disco do Primary falhar, os dados já existem em outro nó.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Limitação: replicação sozinha NÃO promove uma réplica automaticamente se o Primary cair — alguém precisa fazer isso manualmente (é aí que entra o Sentinel).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PRIMARY CAI, QUEM ASSUME?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Failover Automático com Redis Sentinel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402336" cy="402336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713232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819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562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Sentinels (geralmente 3, número ímpar) fazem ping constante no Primary e nas Replicas para detectar falhas.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713232" y="2441448"/>
            <a:ext cx="402336" cy="402336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713232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36829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</a:t>
            </a:r>
            <a:r>
              <a:rPr lang="en-US" sz="1350" b="1" dirty="0" err="1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quórum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426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Sentinels conversam entre si para confirmar que o Primary realmente caiu — e não é apenas falha de rede de um deles isoladamente.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713232" y="3227832"/>
            <a:ext cx="402336" cy="402336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713232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154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Eleição da nova Primary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290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Atingido o quórum (maioria concorda), os Sentinels elegem qual Replica será promovida a novo Primary.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713232" y="4014216"/>
            <a:ext cx="402336" cy="402336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713232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94106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automática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153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Replica escolhida é promovida a Primary, e as demais Replicas são reconfiguradas para replicar dela.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713232" y="4800600"/>
            <a:ext cx="402336" cy="402336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713232" y="4800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4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727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se reconecta sozinha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0017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configuradas com a lista de Sentinels (não um IP fixo) descobrem o novo endereço automaticamente.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Todo esse processo leva segundos — sem intervenção humana. Daí o nome "failover automático".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RESOLVE DISPONIBILIDADE; CLUSTER TAMBÉM ESCALA ESCRITA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Cluster: Replicação + Sharding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017520" cy="512064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600200"/>
            <a:ext cx="3840480" cy="512064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 txBox="1"/>
          <p:nvPr/>
        </p:nvSpPr>
        <p:spPr>
          <a:xfrm>
            <a:off x="3675888" y="1600200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Sentinel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1600200"/>
            <a:ext cx="4206240" cy="512064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7516368" y="1600200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12264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658368" y="2112264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automático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112264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 txBox="1"/>
          <p:nvPr/>
        </p:nvSpPr>
        <p:spPr>
          <a:xfrm>
            <a:off x="3675888" y="2112264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(função principal)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2112264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 txBox="1"/>
          <p:nvPr/>
        </p:nvSpPr>
        <p:spPr>
          <a:xfrm>
            <a:off x="7516368" y="2112264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(função embutida)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3017520" cy="512064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 txBox="1"/>
          <p:nvPr/>
        </p:nvSpPr>
        <p:spPr>
          <a:xfrm>
            <a:off x="658368" y="2624328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(particionamento)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2624328"/>
            <a:ext cx="3840480" cy="512064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 txBox="1"/>
          <p:nvPr/>
        </p:nvSpPr>
        <p:spPr>
          <a:xfrm>
            <a:off x="3675888" y="2624328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624328"/>
            <a:ext cx="4206240" cy="512064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7516368" y="2624328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dados divididos em até 16384 slots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36392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 txBox="1"/>
          <p:nvPr/>
        </p:nvSpPr>
        <p:spPr>
          <a:xfrm>
            <a:off x="658368" y="3136392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escrita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13639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 txBox="1"/>
          <p:nvPr/>
        </p:nvSpPr>
        <p:spPr>
          <a:xfrm>
            <a:off x="3675888" y="313639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(1 Primary só)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3136392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 txBox="1"/>
          <p:nvPr/>
        </p:nvSpPr>
        <p:spPr>
          <a:xfrm>
            <a:off x="7516368" y="3136392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(múltiplos grupos Primary+Replicas)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48456"/>
            <a:ext cx="3017520" cy="512064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 txBox="1"/>
          <p:nvPr/>
        </p:nvSpPr>
        <p:spPr>
          <a:xfrm>
            <a:off x="658368" y="3648456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operacional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3648456"/>
            <a:ext cx="3840480" cy="512064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3675888" y="3648456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3648456"/>
            <a:ext cx="4206240" cy="512064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 txBox="1"/>
          <p:nvPr/>
        </p:nvSpPr>
        <p:spPr>
          <a:xfrm>
            <a:off x="7516368" y="3648456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(requer mais nós)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 txBox="1"/>
          <p:nvPr/>
        </p:nvSpPr>
        <p:spPr>
          <a:xfrm>
            <a:off x="658368" y="4160520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66160" y="4160520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7" name="Text 35"/>
          <p:cNvSpPr txBox="1"/>
          <p:nvPr/>
        </p:nvSpPr>
        <p:spPr>
          <a:xfrm>
            <a:off x="3675888" y="4160520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de um único conjunto de dados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4160520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 txBox="1"/>
          <p:nvPr/>
        </p:nvSpPr>
        <p:spPr>
          <a:xfrm>
            <a:off x="7516368" y="4160520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volumes, precisa escalar leitura E escrita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90118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 txBox="1"/>
          <p:nvPr/>
        </p:nvSpPr>
        <p:spPr>
          <a:xfrm>
            <a:off x="777240" y="502005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Conexão com o Teorema CAP:  </a:t>
            </a: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Sentinel quanto Cluster tendem a CP — durante a eleição de um novo Primary, o sistema pode recusar escritas por alguns instantes, priorizando não ter dois "Primaries" divergentes ao mesmo tempo (split-brain).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X MONGODB X CASSANDRA X SQL SERVER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CAP entre Bancos Conhecidos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65836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58368" y="1691640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691640"/>
            <a:ext cx="2651760" cy="65836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 txBox="1"/>
          <p:nvPr/>
        </p:nvSpPr>
        <p:spPr>
          <a:xfrm>
            <a:off x="3675888" y="169164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típica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2926080" cy="65836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6327648" y="1691640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0" y="1691640"/>
            <a:ext cx="2926080" cy="65836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9253728" y="1691640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 txBox="1"/>
          <p:nvPr/>
        </p:nvSpPr>
        <p:spPr>
          <a:xfrm>
            <a:off x="658368" y="2350008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(Cluster/Sentinel)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2350008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 txBox="1"/>
          <p:nvPr/>
        </p:nvSpPr>
        <p:spPr>
          <a:xfrm>
            <a:off x="3675888" y="235000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350008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 txBox="1"/>
          <p:nvPr/>
        </p:nvSpPr>
        <p:spPr>
          <a:xfrm>
            <a:off x="6327648" y="2350008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(via primary)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2350008"/>
            <a:ext cx="28895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 txBox="1"/>
          <p:nvPr/>
        </p:nvSpPr>
        <p:spPr>
          <a:xfrm>
            <a:off x="9253728" y="2350008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Reduzida durante failover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08376"/>
            <a:ext cx="3017520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658368" y="3008376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(replica set)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66160" y="3008376"/>
            <a:ext cx="2651760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 txBox="1"/>
          <p:nvPr/>
        </p:nvSpPr>
        <p:spPr>
          <a:xfrm>
            <a:off x="3675888" y="30083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(config. padrão)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008376"/>
            <a:ext cx="2926080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 txBox="1"/>
          <p:nvPr/>
        </p:nvSpPr>
        <p:spPr>
          <a:xfrm>
            <a:off x="6327648" y="3008376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no primary; ajustável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0" y="3008376"/>
            <a:ext cx="2889504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 txBox="1"/>
          <p:nvPr/>
        </p:nvSpPr>
        <p:spPr>
          <a:xfrm>
            <a:off x="9253728" y="300837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com eleição de primary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666744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 txBox="1"/>
          <p:nvPr/>
        </p:nvSpPr>
        <p:spPr>
          <a:xfrm>
            <a:off x="658368" y="3666744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66160" y="3666744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3675888" y="366674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3666744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 txBox="1"/>
          <p:nvPr/>
        </p:nvSpPr>
        <p:spPr>
          <a:xfrm>
            <a:off x="6327648" y="3666744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(ajustável)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44000" y="3666744"/>
            <a:ext cx="28895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 txBox="1"/>
          <p:nvPr/>
        </p:nvSpPr>
        <p:spPr>
          <a:xfrm>
            <a:off x="9253728" y="3666744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alta, sem ponto único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325112"/>
            <a:ext cx="3017520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7" name="Text 35"/>
          <p:cNvSpPr txBox="1"/>
          <p:nvPr/>
        </p:nvSpPr>
        <p:spPr>
          <a:xfrm>
            <a:off x="658368" y="432511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(single/AG síncrono)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566160" y="4325112"/>
            <a:ext cx="2651760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 txBox="1"/>
          <p:nvPr/>
        </p:nvSpPr>
        <p:spPr>
          <a:xfrm>
            <a:off x="3675888" y="432511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/ CP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4325112"/>
            <a:ext cx="2926080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 txBox="1"/>
          <p:nvPr/>
        </p:nvSpPr>
        <p:spPr>
          <a:xfrm>
            <a:off x="6327648" y="4325112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(ACID)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44000" y="4325112"/>
            <a:ext cx="2889504" cy="65836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3" name="Text 41"/>
          <p:cNvSpPr txBox="1"/>
          <p:nvPr/>
        </p:nvSpPr>
        <p:spPr>
          <a:xfrm>
            <a:off x="9253728" y="4325112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em cluster, mas não tolera partição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Não existe "o melhor" — existe o adequado ao requisito de negócio (ex.: dados financeiros pedem CP; feed social tolera AP).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"POR BAIXO DOS PANOS"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Eventual na Prática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sistemas AP, uma escrita é confirmada ao cliente antes de ser replicada para todos os nós.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uma janela curta de tempo, réplicas diferentes podem responder valores diferentes para a mesma chave.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"Eventualmente" (milissegundos a segundos, tipicamente) todas as réplicas convergem para o mesmo valor.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usa replicação assíncrona por padrão entre primary → replicas: leituras em replicas podem estar levemente atrasadas.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aceitável quando: feed de rede social, contadores de visualização, cache — não quando: saldo bancário, estoque crítico.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104241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859536" y="4608576"/>
            <a:ext cx="109728" cy="109728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 txBox="1"/>
          <p:nvPr/>
        </p:nvSpPr>
        <p:spPr>
          <a:xfrm>
            <a:off x="9144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cliente escreve x=10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nó Primary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51376" y="4608576"/>
            <a:ext cx="109728" cy="109728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338328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t0+50ms: Replica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tem x=8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43216" y="4608576"/>
            <a:ext cx="109728" cy="109728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667512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t0+120ms: Replica 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x=10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369296" y="4608576"/>
            <a:ext cx="109728" cy="109728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 txBox="1"/>
          <p:nvPr/>
        </p:nvSpPr>
        <p:spPr>
          <a:xfrm>
            <a:off x="9601200" y="4800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t0+200ms: todas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convergem: x=10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0" y="1920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6974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na Prática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977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dados, persistência e ambiente de trabalho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DICTIONARY SERVER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Redis?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in-memory, open source, criado por Salvatore Sanfilippo (2009).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residem em RAM por padrão → latência sub-milissegundo.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Frequentemente chamado de "estrutura de dados como serviço": oferece tipos ricos, não apenas string→string.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no núcleo de execução de comandos → operações atômicas sem necessidade de locks manuais.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Extensível via módulos (RedisJSON, RedisSearch, RedisGraph, </a:t>
            </a:r>
            <a:r>
              <a:rPr lang="en-US" sz="1500" dirty="0" err="1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RedisTimeSeries</a:t>
            </a: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por: Twitter, GitHub, Instagram, Snapchat, StackOverflow, Uber, entre outros.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"SÓ" UM DICIONÁRIO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Dados do Redis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13232" y="174650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713232" y="17465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7627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8716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número, JSON serializado, binário (até 512MB)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3547872" y="174650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3547872" y="17465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17627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48716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ligada — filas (FIFO) e pilhas (LIFO)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6382512" y="174650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6382512" y="17465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17627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48716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com múltiplos campos — como uma "linha" de tabela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9217152" y="174650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9217152" y="17465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17627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248716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 não-ordenada de itens únicos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713232" y="339242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713232" y="3392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ZSet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82219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1330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ordenado por score — rankings, filas de prioridade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2461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Shape 28"/>
          <p:cNvSpPr/>
          <p:nvPr/>
        </p:nvSpPr>
        <p:spPr>
          <a:xfrm>
            <a:off x="3547872" y="339242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3547872" y="3392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Strm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382219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1330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eventos append-only — similar a Kafka simplificado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Shape 33"/>
          <p:cNvSpPr/>
          <p:nvPr/>
        </p:nvSpPr>
        <p:spPr>
          <a:xfrm>
            <a:off x="6382512" y="339242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 txBox="1"/>
          <p:nvPr/>
        </p:nvSpPr>
        <p:spPr>
          <a:xfrm>
            <a:off x="6382512" y="3392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382219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382512" y="41330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lat/long — busca por raio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0" name="Shape 38"/>
          <p:cNvSpPr/>
          <p:nvPr/>
        </p:nvSpPr>
        <p:spPr>
          <a:xfrm>
            <a:off x="9217152" y="3392424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 txBox="1"/>
          <p:nvPr/>
        </p:nvSpPr>
        <p:spPr>
          <a:xfrm>
            <a:off x="9217152" y="3392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HLL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217152" y="382219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HyperLogLog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41330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aproximada de itens únicos (cardinalidade)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E AOF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Persistência: Redis Não É Só Memória Volátil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— Redis Database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binário completo em intervalos configuráveis (ex.: a cada 60s se ≥1000 chaves mudaram).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Arquivo compacto, restauração rápida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Baixo overhead de I/O contínuo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Pode perder dados entre snapshots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AOF — Append Only File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comando de escrita em um log sequencial, reproduzido na reinicialização.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29184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Menor perda de dados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Arquivo legível e reescrito automaticamente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Arquivo maior, restauração mais lenta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produção, é comum combinar RDB + AOF para equilibrar performance e durabilidade.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FORMAS DE TER UM REDIS DISPONÍVEL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Preparando o Ambiente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🐳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(recomendado p/ VSCode)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246120" cy="822960"/>
          </a:xfrm>
          <a:prstGeom prst="roundRect">
            <a:avLst>
              <a:gd name="adj" fmla="val 6667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841248" y="301752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redis-aula -p 6379:6379 redis:7-alpine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local, isolado, idêntico ao de produção. Requer Docker instalado.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4297680" y="17830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☁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23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Cloud (free tier)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017520"/>
            <a:ext cx="3246120" cy="822960"/>
          </a:xfrm>
          <a:prstGeom prst="roundRect">
            <a:avLst>
              <a:gd name="adj" fmla="val 6667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4590288" y="301752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redis.io/try-free  →  crie um banco gratuito (30MB)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remoto com host/porta/senha — funciona direto do Google Colab, sem instalar nada.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 txBox="1"/>
          <p:nvPr/>
        </p:nvSpPr>
        <p:spPr>
          <a:xfrm>
            <a:off x="8046720" y="17830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423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nativa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017520"/>
            <a:ext cx="3246120" cy="822960"/>
          </a:xfrm>
          <a:prstGeom prst="roundRect">
            <a:avLst>
              <a:gd name="adj" fmla="val 6667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 txBox="1"/>
          <p:nvPr/>
        </p:nvSpPr>
        <p:spPr>
          <a:xfrm>
            <a:off x="8339328" y="3017520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redis-server  (Linux) / WSL no Windows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9776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quem já usa Linux/WSL no dia a dia como ambiente de desenvolvimento.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Sugestão para a turma: use Redis Cloud (free tier) se quiser rodar tudo direto do Google Colab, sem instalar nada localmente.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INTERATIVO DO REDIS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Primeiros Passos no redis-cli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950976" y="17830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52144" y="17830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redis-cli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PING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PONG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SET curso "Banco de Dados Não Relacional"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GET curso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"Banco de Dados Não Relacional"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DBSIZE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(integer) 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0" y="1920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6974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 Redis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977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 e Delete em cada estrutura de dados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MAIS BÁSICA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 Strings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640080" y="20574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2057400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 txBox="1"/>
          <p:nvPr/>
        </p:nvSpPr>
        <p:spPr>
          <a:xfrm>
            <a:off x="2194560" y="20574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chave valor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057400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4114800" y="20574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produto:1 "Notebook"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89520" y="2057400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7680960" y="20574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ou sobrescreve o valor de uma chave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 txBox="1"/>
          <p:nvPr/>
        </p:nvSpPr>
        <p:spPr>
          <a:xfrm>
            <a:off x="640080" y="26791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c/ TTL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267919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 txBox="1"/>
          <p:nvPr/>
        </p:nvSpPr>
        <p:spPr>
          <a:xfrm>
            <a:off x="2194560" y="2679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chave valor EX seg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679192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 txBox="1"/>
          <p:nvPr/>
        </p:nvSpPr>
        <p:spPr>
          <a:xfrm>
            <a:off x="4114800" y="26791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sessao:1 tok EX 3600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267919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 txBox="1"/>
          <p:nvPr/>
        </p:nvSpPr>
        <p:spPr>
          <a:xfrm>
            <a:off x="7680960" y="26791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valor com expiração em segundos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00984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640080" y="3300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3300984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 txBox="1"/>
          <p:nvPr/>
        </p:nvSpPr>
        <p:spPr>
          <a:xfrm>
            <a:off x="2194560" y="33009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chave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3300984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 txBox="1"/>
          <p:nvPr/>
        </p:nvSpPr>
        <p:spPr>
          <a:xfrm>
            <a:off x="411480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produto:1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3300984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 txBox="1"/>
          <p:nvPr/>
        </p:nvSpPr>
        <p:spPr>
          <a:xfrm>
            <a:off x="7680960" y="330098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o valor da chave (ou nil)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22776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 txBox="1"/>
          <p:nvPr/>
        </p:nvSpPr>
        <p:spPr>
          <a:xfrm>
            <a:off x="640080" y="39227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múltiplo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3922776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 txBox="1"/>
          <p:nvPr/>
        </p:nvSpPr>
        <p:spPr>
          <a:xfrm>
            <a:off x="2194560" y="39227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MGET chave1 chave2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23360" y="3922776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 txBox="1"/>
          <p:nvPr/>
        </p:nvSpPr>
        <p:spPr>
          <a:xfrm>
            <a:off x="4114800" y="39227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MGET produto:1 produto:2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89520" y="3922776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 txBox="1"/>
          <p:nvPr/>
        </p:nvSpPr>
        <p:spPr>
          <a:xfrm>
            <a:off x="7680960" y="39227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várias chaves em uma única chamada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544568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Text 40"/>
          <p:cNvSpPr txBox="1"/>
          <p:nvPr/>
        </p:nvSpPr>
        <p:spPr>
          <a:xfrm>
            <a:off x="640080" y="45445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numérico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03120" y="4544568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 txBox="1"/>
          <p:nvPr/>
        </p:nvSpPr>
        <p:spPr>
          <a:xfrm>
            <a:off x="2194560" y="45445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/ INCRBY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23360" y="4544568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Text 44"/>
          <p:cNvSpPr txBox="1"/>
          <p:nvPr/>
        </p:nvSpPr>
        <p:spPr>
          <a:xfrm>
            <a:off x="4114800" y="45445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 visitas:pagina1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89520" y="4544568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8" name="Text 46"/>
          <p:cNvSpPr txBox="1"/>
          <p:nvPr/>
        </p:nvSpPr>
        <p:spPr>
          <a:xfrm>
            <a:off x="7680960" y="45445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 valor inteiro atomicamente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5166360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0" name="Text 48"/>
          <p:cNvSpPr txBox="1"/>
          <p:nvPr/>
        </p:nvSpPr>
        <p:spPr>
          <a:xfrm>
            <a:off x="640080" y="51663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03120" y="5166360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2" name="Text 50"/>
          <p:cNvSpPr txBox="1"/>
          <p:nvPr/>
        </p:nvSpPr>
        <p:spPr>
          <a:xfrm>
            <a:off x="2194560" y="51663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chave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023360" y="5166360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4" name="Text 52"/>
          <p:cNvSpPr txBox="1"/>
          <p:nvPr/>
        </p:nvSpPr>
        <p:spPr>
          <a:xfrm>
            <a:off x="4114800" y="5166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produto:1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589520" y="516636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6" name="Text 54"/>
          <p:cNvSpPr txBox="1"/>
          <p:nvPr/>
        </p:nvSpPr>
        <p:spPr>
          <a:xfrm>
            <a:off x="7680960" y="5166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chave e libera memória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"REGISTRO" DE TABELA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 Hashes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640080" y="20574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2057400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 txBox="1"/>
          <p:nvPr/>
        </p:nvSpPr>
        <p:spPr>
          <a:xfrm>
            <a:off x="2194560" y="20574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HSET chave campo valor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057400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4114800" y="20574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user:1 nome "Ana" idade 22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89520" y="2057400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7680960" y="20574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Cria/atualiza um ou mais campos do hash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 txBox="1"/>
          <p:nvPr/>
        </p:nvSpPr>
        <p:spPr>
          <a:xfrm>
            <a:off x="640080" y="26791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(1 campo)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267919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 txBox="1"/>
          <p:nvPr/>
        </p:nvSpPr>
        <p:spPr>
          <a:xfrm>
            <a:off x="2194560" y="2679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HGET chave campo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679192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 txBox="1"/>
          <p:nvPr/>
        </p:nvSpPr>
        <p:spPr>
          <a:xfrm>
            <a:off x="4114800" y="26791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 user:1 nome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267919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 txBox="1"/>
          <p:nvPr/>
        </p:nvSpPr>
        <p:spPr>
          <a:xfrm>
            <a:off x="7680960" y="26791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valor de um campo específico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00984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640080" y="3300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(tudo)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3300984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 txBox="1"/>
          <p:nvPr/>
        </p:nvSpPr>
        <p:spPr>
          <a:xfrm>
            <a:off x="2194560" y="33009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HGETALL chave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3300984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 txBox="1"/>
          <p:nvPr/>
        </p:nvSpPr>
        <p:spPr>
          <a:xfrm>
            <a:off x="411480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HGETALL user:1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3300984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 txBox="1"/>
          <p:nvPr/>
        </p:nvSpPr>
        <p:spPr>
          <a:xfrm>
            <a:off x="7680960" y="330098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todos os campos e valores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22776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 txBox="1"/>
          <p:nvPr/>
        </p:nvSpPr>
        <p:spPr>
          <a:xfrm>
            <a:off x="640080" y="39227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3922776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 txBox="1"/>
          <p:nvPr/>
        </p:nvSpPr>
        <p:spPr>
          <a:xfrm>
            <a:off x="2194560" y="39227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HSET / HINCRBY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23360" y="3922776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 txBox="1"/>
          <p:nvPr/>
        </p:nvSpPr>
        <p:spPr>
          <a:xfrm>
            <a:off x="4114800" y="39227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HINCRBY user:1 idade 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89520" y="3922776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 txBox="1"/>
          <p:nvPr/>
        </p:nvSpPr>
        <p:spPr>
          <a:xfrm>
            <a:off x="7680960" y="39227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campo (idade +1, por exemplo)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544568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Text 40"/>
          <p:cNvSpPr txBox="1"/>
          <p:nvPr/>
        </p:nvSpPr>
        <p:spPr>
          <a:xfrm>
            <a:off x="640080" y="45445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campo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03120" y="4544568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 txBox="1"/>
          <p:nvPr/>
        </p:nvSpPr>
        <p:spPr>
          <a:xfrm>
            <a:off x="2194560" y="45445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HDEL chave campo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23360" y="4544568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Text 44"/>
          <p:cNvSpPr txBox="1"/>
          <p:nvPr/>
        </p:nvSpPr>
        <p:spPr>
          <a:xfrm>
            <a:off x="4114800" y="45445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HDEL user:1 idade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89520" y="4544568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8" name="Text 46"/>
          <p:cNvSpPr txBox="1"/>
          <p:nvPr/>
        </p:nvSpPr>
        <p:spPr>
          <a:xfrm>
            <a:off x="7680960" y="45445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apenas um campo do hash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5166360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0" name="Text 48"/>
          <p:cNvSpPr txBox="1"/>
          <p:nvPr/>
        </p:nvSpPr>
        <p:spPr>
          <a:xfrm>
            <a:off x="640080" y="51663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hash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03120" y="5166360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2" name="Text 50"/>
          <p:cNvSpPr txBox="1"/>
          <p:nvPr/>
        </p:nvSpPr>
        <p:spPr>
          <a:xfrm>
            <a:off x="2194560" y="51663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chave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023360" y="5166360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4" name="Text 52"/>
          <p:cNvSpPr txBox="1"/>
          <p:nvPr/>
        </p:nvSpPr>
        <p:spPr>
          <a:xfrm>
            <a:off x="4114800" y="5166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user:1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589520" y="516636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6" name="Text 54"/>
          <p:cNvSpPr txBox="1"/>
          <p:nvPr/>
        </p:nvSpPr>
        <p:spPr>
          <a:xfrm>
            <a:off x="7680960" y="5166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 hash inteiro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971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HGETALL é o equivalente a SELECT * FROM usuario WHERE id=1 no mundo relacional.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FILAS, PILHAS E COLEÇÕES ÚNICAS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 Listas e 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640080" y="20574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(Lista)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2057400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 txBox="1"/>
          <p:nvPr/>
        </p:nvSpPr>
        <p:spPr>
          <a:xfrm>
            <a:off x="2194560" y="20574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LPUSH / RPUSH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057400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4114800" y="20574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RPUSH fila:pedidos "pedido42"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89520" y="2057400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7680960" y="20574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no início (L) ou fim (R) da lista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 txBox="1"/>
          <p:nvPr/>
        </p:nvSpPr>
        <p:spPr>
          <a:xfrm>
            <a:off x="640080" y="26791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(Lista)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267919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 txBox="1"/>
          <p:nvPr/>
        </p:nvSpPr>
        <p:spPr>
          <a:xfrm>
            <a:off x="2194560" y="2679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LRANGE chave ini fim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679192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 txBox="1"/>
          <p:nvPr/>
        </p:nvSpPr>
        <p:spPr>
          <a:xfrm>
            <a:off x="4114800" y="26791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LRANGE fila:pedidos 0 -1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267919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 txBox="1"/>
          <p:nvPr/>
        </p:nvSpPr>
        <p:spPr>
          <a:xfrm>
            <a:off x="7680960" y="26791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um intervalo de elementos (-1 = último)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00984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640080" y="33009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(Lista)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3300984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 txBox="1"/>
          <p:nvPr/>
        </p:nvSpPr>
        <p:spPr>
          <a:xfrm>
            <a:off x="2194560" y="33009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LPOP / RPOP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3300984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 txBox="1"/>
          <p:nvPr/>
        </p:nvSpPr>
        <p:spPr>
          <a:xfrm>
            <a:off x="411480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LPOP fila:pedidos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3300984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 txBox="1"/>
          <p:nvPr/>
        </p:nvSpPr>
        <p:spPr>
          <a:xfrm>
            <a:off x="7680960" y="330098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 retorna a ponta da lista (fila FIFO)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922776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 txBox="1"/>
          <p:nvPr/>
        </p:nvSpPr>
        <p:spPr>
          <a:xfrm>
            <a:off x="640080" y="39227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(Set)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3922776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 txBox="1"/>
          <p:nvPr/>
        </p:nvSpPr>
        <p:spPr>
          <a:xfrm>
            <a:off x="2194560" y="39227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 chave membro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23360" y="3922776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 txBox="1"/>
          <p:nvPr/>
        </p:nvSpPr>
        <p:spPr>
          <a:xfrm>
            <a:off x="4114800" y="39227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SADD tags:post1 "redis" "nosql"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89520" y="3922776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 txBox="1"/>
          <p:nvPr/>
        </p:nvSpPr>
        <p:spPr>
          <a:xfrm>
            <a:off x="7680960" y="39227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membros únicos a um conjunto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544568"/>
            <a:ext cx="155448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Text 40"/>
          <p:cNvSpPr txBox="1"/>
          <p:nvPr/>
        </p:nvSpPr>
        <p:spPr>
          <a:xfrm>
            <a:off x="640080" y="45445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(Set)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03120" y="4544568"/>
            <a:ext cx="192024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 txBox="1"/>
          <p:nvPr/>
        </p:nvSpPr>
        <p:spPr>
          <a:xfrm>
            <a:off x="2194560" y="45445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SMEMBERS / SISMEMBER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23360" y="4544568"/>
            <a:ext cx="35661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Text 44"/>
          <p:cNvSpPr txBox="1"/>
          <p:nvPr/>
        </p:nvSpPr>
        <p:spPr>
          <a:xfrm>
            <a:off x="4114800" y="45445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SISMEMBER tags:post1 "redis"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89520" y="4544568"/>
            <a:ext cx="4023360" cy="621792"/>
          </a:xfrm>
          <a:prstGeom prst="rect">
            <a:avLst/>
          </a:prstGeom>
          <a:solidFill>
            <a:srgbClr val="F6F5F4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8" name="Text 46"/>
          <p:cNvSpPr txBox="1"/>
          <p:nvPr/>
        </p:nvSpPr>
        <p:spPr>
          <a:xfrm>
            <a:off x="7680960" y="45445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membros ou </a:t>
            </a:r>
            <a:r>
              <a:rPr lang="en-US" sz="1100" dirty="0" err="1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pertencimento</a:t>
            </a: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(O(N)/O(1)</a:t>
            </a:r>
          </a:p>
        </p:txBody>
      </p:sp>
      <p:sp>
        <p:nvSpPr>
          <p:cNvPr id="49" name="Shape 47"/>
          <p:cNvSpPr/>
          <p:nvPr/>
        </p:nvSpPr>
        <p:spPr>
          <a:xfrm>
            <a:off x="548640" y="5166360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0" name="Text 48"/>
          <p:cNvSpPr txBox="1"/>
          <p:nvPr/>
        </p:nvSpPr>
        <p:spPr>
          <a:xfrm>
            <a:off x="640080" y="51663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(Set)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03120" y="5166360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2" name="Text 50"/>
          <p:cNvSpPr txBox="1"/>
          <p:nvPr/>
        </p:nvSpPr>
        <p:spPr>
          <a:xfrm>
            <a:off x="2194560" y="51663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SREM chave membro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023360" y="5166360"/>
            <a:ext cx="3566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4" name="Text 52"/>
          <p:cNvSpPr txBox="1"/>
          <p:nvPr/>
        </p:nvSpPr>
        <p:spPr>
          <a:xfrm>
            <a:off x="4114800" y="5166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SREM tags:post1 "redis"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589520" y="516636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6" name="Text 54"/>
          <p:cNvSpPr txBox="1"/>
          <p:nvPr/>
        </p:nvSpPr>
        <p:spPr>
          <a:xfrm>
            <a:off x="7680960" y="5166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 membro específico do conjunto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PREFERIDA PARA RANKINGS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 Sorted Sets (ZSet)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ZADD chave score membro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Insere/atualiza um membro com uma pontuação (score) numérica associada.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ZRANGE / ZREVRANGE chave ini fim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membros ordenados pelo score (crescente ou decrescente).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ZSCORE chave membro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 pontuação atual de um membro específico.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ZINCRBY chave incremento membro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 o score de um membro atomicamente — ideal para pontuação em tempo real.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ZREM chave membro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um membro do conjunto ordenado.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0" y="1920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6974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com Python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977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sua aplicação ao banco chave-valor com redis-py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E PRIMEIRA CONEXÃO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redis-py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950976" y="17373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52144" y="173736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instalação (VSCode / terminal local ou Google Colab)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redis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conexao.py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redis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redis.Redis(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host="localhost",      # ou host do Redis Cloud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port=6379,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password=None,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decode_responses=True,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print(r.ping())  # True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FUNCIONAM — A DIFERENÇA É O SERVIDOR REDIS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Executar: VSCode ou Google Colab?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VSCode (local)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Redis roda na própria máquina (Docker ou instalação nativa).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= "localhost", port = 6379 — sem necessidade de senha.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desenvolvimento contínuo e depuração passo a passo.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Google Colab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Colab NÃO tem servidor Redis embutido — é necessário um Redis remoto.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gratuita: criar um banco no Redis Cloud (redis.io/try-free, 30MB grátis) e usar host/porta/senha fornecidos.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apenas para fins didáticos: instalar Redis no próprio Colab via !apt-get install redis-server (efêmero, apaga ao fechar).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 SERVIDOR REMOTO GRATUITO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Conectando pelo Google Colab (Redis Cloud)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950976" y="17830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52144" y="17830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redis -q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redis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redis.Redis(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host="redis-XXXXX.c.redis-cloud.com",  # copiado do painel do Redis Cloud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port=17845,                             # porta fornecida no painel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password="SUA_SENHA_AQUI",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decode_responses=True,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r.set("aula", "chave-valor")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print(r.get("aula"))  # -&gt; chave-valor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Nunca deixe usuário/senha do banco em código versionado publicamente (use variáveis de ambiente em projetos reais).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COMANDOS, AGORA COMO MÉTODOS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 em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950976" y="17830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52144" y="17830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r.set("produto:1", "Notebook")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r.hset("user:1", mapping={"nome": "Ana", "idade": 22})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 = r.get("produto:1")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 = r.hgetall("user:1")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r.hincrby("user:1", "idade", 1)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r.delete("produto:1")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PRONTO PARA PRODUÇÃO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 de Conexões e Tratamento de Erros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950976" y="17830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52144" y="17830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redis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 = redis.ConnectionPool(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host="localhost", port=6379, decode_responses=True, max_connections=20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redis.Redis(connection_pool=pool)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r.set("chave", "valor", ex=30)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redis.exceptions.ConnectionError: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print("Não foi possível conectar ao Redis.")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redis.exceptions.TimeoutError: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print("Tempo de resposta excedido.")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0" y="1920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6974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Aplicações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977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Redis realmente brilha em sistemas de produção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MAIS COMUM DE REDIS NO MUNDO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1 — Cache (Cache-Aside)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7373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 txBox="1"/>
          <p:nvPr/>
        </p:nvSpPr>
        <p:spPr>
          <a:xfrm>
            <a:off x="4663440" y="17373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17373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8503920" y="17373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(fonte da verdade)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</a:rPr>
              <a:t>① consulta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240280"/>
            <a:ext cx="1188720" cy="0"/>
          </a:xfrm>
          <a:prstGeom prst="line">
            <a:avLst/>
          </a:prstGeom>
          <a:noFill/>
          <a:ln w="19050">
            <a:solidFill>
              <a:srgbClr val="2B2F38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 txBox="1"/>
          <p:nvPr/>
        </p:nvSpPr>
        <p:spPr>
          <a:xfrm>
            <a:off x="736092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</a:rPr>
              <a:t>② se não houver (miss)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2240280"/>
            <a:ext cx="1188720" cy="0"/>
          </a:xfrm>
          <a:prstGeom prst="line">
            <a:avLst/>
          </a:prstGeom>
          <a:noFill/>
          <a:ln w="19050">
            <a:solidFill>
              <a:srgbClr val="2B2F38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51206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6"/>
                </a:solidFill>
              </a:rPr>
              <a:t>③ grava no cache com TTL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aplicação primeiro pergunta ao Redis (GET). Se existir (cache hit), retorna imediatamente — sem tocar no banco relacional.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 não existir (cache miss), a aplicação consulta o SQL Server, obtém o dado.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aplicação grava o resultado no Redis com um TTL (SET ... EX 300) antes de retornar ao usuário.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Próximas requisições pela mesma chave são atendidas em microssegundos, sem sobrecarregar o banco relacional.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ESTADO SEM SOBRECARREGAR O BD PRINCIPAL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2 — Sessões e Autenticação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autenticado recebe um token de sessão armazenado como chave: sessao:&lt;token&gt;.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guarda dados do usuário (hash) e um TTL correspondente ao tempo de sessão (ex.: 30 minutos).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requisição, a aplicação valida o token com GET/HGETALL e renova o TTL com EXPIRE.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compartilhar sessão entre múltiplas instâncias da aplicação (arquitetura stateless + Redis como estado centralizado).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6693408" y="17830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6894576" y="17830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095744" y="17830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6766560" y="20116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r.hset(f"sessao:{token}", mapping={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"usuario_id": 42, "nome": "Ana"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r.expire(f"sessao:{token}", 1800)  # 30 min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validar sessão em cada requisição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r.exists(f"sessao:{token}"):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r.expire(f"sessao:{token}", 1800)  # renova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r.hgetall(f"sessao:{token}")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ASSÍNCRONA ENTRE SERVIÇOS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3 — Filas e Pub/Sub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simples (Listas)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024128" y="24688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225296" y="24688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1426464" y="24688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1097280" y="2697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Produtor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r.lpush("fila:emails", pedido_json)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Consumidor (bloqueante)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tarefa = r.brpop("fila:emails", timeout=0)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processar(tarefa)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persistem na lista até serem consumidas — ótimo para tarefas que não podem se perder.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 txBox="1"/>
          <p:nvPr/>
        </p:nvSpPr>
        <p:spPr>
          <a:xfrm>
            <a:off x="653796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(tempo real)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28600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6739128" y="24688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Shape 14"/>
          <p:cNvSpPr/>
          <p:nvPr/>
        </p:nvSpPr>
        <p:spPr>
          <a:xfrm>
            <a:off x="6940296" y="24688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Shape 15"/>
          <p:cNvSpPr/>
          <p:nvPr/>
        </p:nvSpPr>
        <p:spPr>
          <a:xfrm>
            <a:off x="7141464" y="24688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 txBox="1"/>
          <p:nvPr/>
        </p:nvSpPr>
        <p:spPr>
          <a:xfrm>
            <a:off x="6812280" y="2697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Publicador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r.publish("canal:notificacoes", "novo pedido!")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Assinante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pubsub = r.pubsub()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pubsub.subscribe("canal:notificacoes")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1605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NÃO ficam persistidas: se não houver assinante ouvindo, a mensagem se perde (fire-and-forget).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PROTEGENDO APIS DE ABUSO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4 — Rate Limiting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limitar quantas requisições um cliente (IP, usuário, API key) pode fazer em uma janela de tempo.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"janela fixa": uma chave por cliente+janela de tempo, incrementada a cada requisição.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é atômico — mesmo com milhares de requisições simultâneas, a contagem nunca perde uma unidade (sem race condition).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define quando a janela reinicia automaticamente.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6693408" y="17830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6894576" y="17830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095744" y="17830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6766560" y="20116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permitir_requisicao(r, ip, limite=10, janela=60):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chave = f"rate:{ip}"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r.incr(chave)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total == 1: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r.expire(chave, janela)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 &lt;= limite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permitir_requisicao(r, "200.1.1.5"):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print("429 - Too Many Requests")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SETS EM AÇÃO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5 — Leaderboards (Rankings)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Jogos, gamificação e sistemas de pontuação precisam de rankings sempre atualizados e ordenados.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Sorted Set mantém os membros automaticamente ordenados pelo score — sem precisar reordenar manualmente.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ZINCRBY atualiza a pontuação de forma atômica a cada evento (ex.: usuário ganhou pontos).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ZREVRANGE ... WITHSCORES retorna o Top N em ordem decrescente, com pontuações, em O(log 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B1F27"/>
          </a:solidFill>
          <a:ln w="12700">
            <a:solidFill>
              <a:srgbClr val="2B2F3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Shape 4"/>
          <p:cNvSpPr/>
          <p:nvPr/>
        </p:nvSpPr>
        <p:spPr>
          <a:xfrm>
            <a:off x="6693408" y="178308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6894576" y="178308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7095744" y="178308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6766560" y="20116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r.zadd("ranking:jogo1", {"ana": 1500, "leo": 2100})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jogador pontua mais 50 pontos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r.zincrby("ranking:jogo1", 50, "ana")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 3 com pontuação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top3 = r.zrevrange(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"ranking:jogo1", 0, 2, withscores=True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0" y="1920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6974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</a:t>
            </a:r>
            <a:r>
              <a:rPr lang="en-US" sz="33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Práticas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977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 err="1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boas </a:t>
            </a:r>
            <a:r>
              <a:rPr lang="en-US" sz="1450" i="1" dirty="0" err="1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</a:t>
            </a:r>
            <a:r>
              <a:rPr lang="en-US" sz="145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50" i="1" dirty="0" err="1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CONCORRENTES: SÃO COMPLEMENTARES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vs SQL Server — Quando Usar Cada 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56692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4114800" cy="56692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 txBox="1"/>
          <p:nvPr/>
        </p:nvSpPr>
        <p:spPr>
          <a:xfrm>
            <a:off x="3401568" y="1645920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(chave-valor)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1645920"/>
            <a:ext cx="4206240" cy="566928"/>
          </a:xfrm>
          <a:prstGeom prst="rect">
            <a:avLst/>
          </a:prstGeom>
          <a:solidFill>
            <a:srgbClr val="1B1F27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 txBox="1"/>
          <p:nvPr/>
        </p:nvSpPr>
        <p:spPr>
          <a:xfrm>
            <a:off x="7516368" y="164592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(relacional)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658368" y="22128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21284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 txBox="1"/>
          <p:nvPr/>
        </p:nvSpPr>
        <p:spPr>
          <a:xfrm>
            <a:off x="3401568" y="2212848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→ valor / estruturas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221284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 txBox="1"/>
          <p:nvPr/>
        </p:nvSpPr>
        <p:spPr>
          <a:xfrm>
            <a:off x="7516368" y="221284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com relacionamentos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274320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 txBox="1"/>
          <p:nvPr/>
        </p:nvSpPr>
        <p:spPr>
          <a:xfrm>
            <a:off x="658368" y="277977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2779776"/>
            <a:ext cx="411480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 txBox="1"/>
          <p:nvPr/>
        </p:nvSpPr>
        <p:spPr>
          <a:xfrm>
            <a:off x="3401568" y="2779776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(cluster) / forte (nó único)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2779776"/>
            <a:ext cx="420624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7516368" y="277977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forte por padrão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 txBox="1"/>
          <p:nvPr/>
        </p:nvSpPr>
        <p:spPr>
          <a:xfrm>
            <a:off x="658368" y="33467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leitura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91840" y="3346704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 txBox="1"/>
          <p:nvPr/>
        </p:nvSpPr>
        <p:spPr>
          <a:xfrm>
            <a:off x="3401568" y="3346704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Sub-milissegundo (RAM)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334670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 txBox="1"/>
          <p:nvPr/>
        </p:nvSpPr>
        <p:spPr>
          <a:xfrm>
            <a:off x="7516368" y="3346704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Milissegundos (disco/índices)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13632"/>
            <a:ext cx="274320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 txBox="1"/>
          <p:nvPr/>
        </p:nvSpPr>
        <p:spPr>
          <a:xfrm>
            <a:off x="658368" y="39136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complexas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0" y="3913632"/>
            <a:ext cx="411480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3401568" y="3913632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Limitadas (sem JOIN nativo)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06640" y="3913632"/>
            <a:ext cx="420624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 txBox="1"/>
          <p:nvPr/>
        </p:nvSpPr>
        <p:spPr>
          <a:xfrm>
            <a:off x="7516368" y="3913632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completo, JOINs, agregações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 txBox="1"/>
          <p:nvPr/>
        </p:nvSpPr>
        <p:spPr>
          <a:xfrm>
            <a:off x="658368" y="44805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típico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1840" y="448056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7" name="Text 35"/>
          <p:cNvSpPr txBox="1"/>
          <p:nvPr/>
        </p:nvSpPr>
        <p:spPr>
          <a:xfrm>
            <a:off x="3401568" y="4480560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sessão, fila, ranking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06640" y="448056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 txBox="1"/>
          <p:nvPr/>
        </p:nvSpPr>
        <p:spPr>
          <a:xfrm>
            <a:off x="7516368" y="44805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financeiro, catálogo, auditoria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047488"/>
            <a:ext cx="274320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 txBox="1"/>
          <p:nvPr/>
        </p:nvSpPr>
        <p:spPr>
          <a:xfrm>
            <a:off x="658368" y="504748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garantida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91840" y="5047488"/>
            <a:ext cx="411480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3" name="Text 41"/>
          <p:cNvSpPr txBox="1"/>
          <p:nvPr/>
        </p:nvSpPr>
        <p:spPr>
          <a:xfrm>
            <a:off x="3401568" y="5047488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(RDB/AOF)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06640" y="5047488"/>
            <a:ext cx="4206240" cy="566928"/>
          </a:xfrm>
          <a:prstGeom prst="rect">
            <a:avLst/>
          </a:prstGeom>
          <a:solidFill>
            <a:srgbClr val="F6F5F4"/>
          </a:solidFill>
          <a:ln w="635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5" name="Text 43"/>
          <p:cNvSpPr txBox="1"/>
          <p:nvPr/>
        </p:nvSpPr>
        <p:spPr>
          <a:xfrm>
            <a:off x="7516368" y="504748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(transaction log)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8430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Em produção, o padrão de mercado é usar os DOIS juntos: SQL Server como fonte da verdade + Redis como camada de cache/velocidade.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AS ARMADILHAS MAIS COMUNS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em Produção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502920" cy="50292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74980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chaves com padrão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249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namespaces com ":" — ex.: usuario:102:perfil — facilita organização e buscas.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4498848" y="175564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449884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3774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defina TTL quando fizer sentido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7249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crescimento infinito de memória com dados que deveriam ser temporários.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8247888" y="1755648"/>
            <a:ext cx="502920" cy="50292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8247888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3774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use KEYS * em produção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72491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o servidor (single-thread). Use SCAN para iterar chaves com segurança.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749808" y="39044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7498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5262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 o uso de memória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87375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memory e maxmemory-policy (ex.: allkeys-lru) evitam estouro de RAM.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4498848" y="3904488"/>
            <a:ext cx="502920" cy="502920"/>
          </a:xfrm>
          <a:prstGeom prst="ellipse">
            <a:avLst/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449884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498848" y="45262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Habilite autenticação e TLS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487375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requirepass, ACLs por usuário e criptografia em trânsito em ambientes expostos.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Shape 28"/>
          <p:cNvSpPr/>
          <p:nvPr/>
        </p:nvSpPr>
        <p:spPr>
          <a:xfrm>
            <a:off x="8247888" y="39044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 txBox="1"/>
          <p:nvPr/>
        </p:nvSpPr>
        <p:spPr>
          <a:xfrm>
            <a:off x="824788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45262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comandos O(N)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87375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SMEMBERS/LRANGE em coleções gigantes podem travar o event loop — pagine os resultados.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CONSULTA RÁPIDA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</a:t>
            </a: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Essenciais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60020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PING, DBSIZE, EXISTS, DEL, EXPIRE, TTL, KEYS(evitar)/SCAN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685800" y="231343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 txBox="1"/>
          <p:nvPr/>
        </p:nvSpPr>
        <p:spPr>
          <a:xfrm>
            <a:off x="685800" y="2313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221992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SET, GET, MSET, MGET, INCR, INCRBY, APPEND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Shape 11"/>
          <p:cNvSpPr/>
          <p:nvPr/>
        </p:nvSpPr>
        <p:spPr>
          <a:xfrm>
            <a:off x="685800" y="2935224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 txBox="1"/>
          <p:nvPr/>
        </p:nvSpPr>
        <p:spPr>
          <a:xfrm>
            <a:off x="685800" y="2935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2843784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HSET, HGET, HGETALL, HDEL, HINCRBY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Shape 15"/>
          <p:cNvSpPr/>
          <p:nvPr/>
        </p:nvSpPr>
        <p:spPr>
          <a:xfrm>
            <a:off x="685800" y="3557016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 txBox="1"/>
          <p:nvPr/>
        </p:nvSpPr>
        <p:spPr>
          <a:xfrm>
            <a:off x="685800" y="3557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346557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LPUSH, RPUSH, LRANGE, LPOP, RPOP, BRPOP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685800" y="417880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 txBox="1"/>
          <p:nvPr/>
        </p:nvSpPr>
        <p:spPr>
          <a:xfrm>
            <a:off x="685800" y="41788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4087368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SADD, SMEMBERS, SISMEMBER, SREM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685800" y="48006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685800" y="4800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70916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ZADD, ZRANGE, ZREVRANGE, ZSCORE, ZINCRBY, ZREM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30952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6F5F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685800" y="54223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C382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 txBox="1"/>
          <p:nvPr/>
        </p:nvSpPr>
        <p:spPr>
          <a:xfrm>
            <a:off x="685800" y="5422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423160" y="5330952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PUBLISH, SUBSCRIBE, PSUBSCRIBE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4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TUDO O QUE FOI APRENDIDO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Mini-Projeto: Sistema de E-commerce Simplificado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Construir, em Python + Redis, um mini sistema com: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6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produtos (Hash) com CRUD completo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6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de compras por usuário (Hash ou List) com TTL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6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visualizações por produto (String + INCR)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6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dos produtos mais vendidos (Sorted Set)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6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processamento de pedidos (List + BRPOP)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6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simples na "API" de consulta (INCR + EXPIRE)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Especificação completa, critérios de avaliação e template de código: arquivo mini_projeto.md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C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CONTINUAR ESTUDANDO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e Próximos Passos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oficial: redis.io/docs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University (cursos gratuitos oficiais): university.redis.com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Livro: "Redis in Action" — Josiah L. Carlson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Python: redis-py — github.com/redis/redis-py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Cloud (free tier para testes e projetos): redis.io/try-free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Chave-Valor  |  Redis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5018</Words>
  <Application>Microsoft Macintosh PowerPoint</Application>
  <PresentationFormat>Widescreen</PresentationFormat>
  <Paragraphs>812</Paragraphs>
  <Slides>47</Slides>
  <Notes>47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Henrique Dezani</cp:lastModifiedBy>
  <cp:revision>4</cp:revision>
  <dcterms:created xsi:type="dcterms:W3CDTF">2026-09-03T17:13:37Z</dcterms:created>
  <dcterms:modified xsi:type="dcterms:W3CDTF">2026-09-03T20:41:04Z</dcterms:modified>
</cp:coreProperties>
</file>